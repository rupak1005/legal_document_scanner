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4630400" cy="8229600"/>
  <p:notesSz cx="8229600" cy="14630400"/>
  <p:embeddedFontLst>
    <p:embeddedFont>
      <p:font typeface="Quattrocento"/>
      <p:regular r:id="rId18"/>
    </p:embeddedFont>
    <p:embeddedFont>
      <p:font typeface="Quattrocento"/>
      <p:regular r:id="rId19"/>
    </p:embeddedFont>
    <p:embeddedFont>
      <p:font typeface="Quattrocento"/>
      <p:regular r:id="rId20"/>
    </p:embeddedFont>
    <p:embeddedFont>
      <p:font typeface="Quattrocento"/>
      <p:regular r:id="rId21"/>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C4241"/>
          </a:solidFill>
          <a:ln/>
        </p:spPr>
      </p:sp>
      <p:sp>
        <p:nvSpPr>
          <p:cNvPr id="3" name="Shape 1"/>
          <p:cNvSpPr/>
          <p:nvPr/>
        </p:nvSpPr>
        <p:spPr>
          <a:xfrm>
            <a:off x="0" y="0"/>
            <a:ext cx="14630400" cy="8229600"/>
          </a:xfrm>
          <a:prstGeom prst="rect">
            <a:avLst/>
          </a:prstGeom>
          <a:solidFill>
            <a:srgbClr val="123332"/>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6.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7.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4124" y="1579007"/>
            <a:ext cx="7188994" cy="726877"/>
          </a:xfrm>
          <a:prstGeom prst="rect">
            <a:avLst/>
          </a:prstGeom>
          <a:noFill/>
          <a:ln/>
        </p:spPr>
        <p:txBody>
          <a:bodyPr wrap="none" lIns="0" tIns="0" rIns="0" bIns="0" rtlCol="0" anchor="t"/>
          <a:lstStyle/>
          <a:p>
            <a:pPr algn="l" indent="0" marL="0">
              <a:lnSpc>
                <a:spcPts val="5500"/>
              </a:lnSpc>
              <a:buNone/>
            </a:pPr>
            <a:r>
              <a:rPr lang="en-US" sz="4400" dirty="0">
                <a:solidFill>
                  <a:srgbClr val="000000"/>
                </a:solidFill>
                <a:latin typeface="Quattrocento" pitchFamily="34" charset="0"/>
                <a:ea typeface="Quattrocento" pitchFamily="34" charset="-122"/>
                <a:cs typeface="Quattrocento" pitchFamily="34" charset="-120"/>
              </a:rPr>
              <a:t>🔍</a:t>
            </a:r>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 Legal Document Analysis</a:t>
            </a:r>
            <a:endParaRPr lang="en-US" sz="4400" dirty="0"/>
          </a:p>
        </p:txBody>
      </p:sp>
      <p:sp>
        <p:nvSpPr>
          <p:cNvPr id="4" name="Text 1"/>
          <p:cNvSpPr/>
          <p:nvPr/>
        </p:nvSpPr>
        <p:spPr>
          <a:xfrm>
            <a:off x="6324124" y="2664857"/>
            <a:ext cx="7468553" cy="2681168"/>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Legal Document Analysis harnesses the power of AI to revolutionize how legal professionals interact with complex texts. This presentation will explore the capabilities of our cutting-edge tool, designed to streamline legal reviews, extract key insights, and ultimately save valuable time and resources. We'll delve into the AI models that drive our solution, showcase its features, and demonstrate its potential impact on the legal industry.</a:t>
            </a:r>
            <a:endParaRPr lang="en-US" sz="1850" dirty="0"/>
          </a:p>
        </p:txBody>
      </p:sp>
      <p:sp>
        <p:nvSpPr>
          <p:cNvPr id="5" name="Text 2"/>
          <p:cNvSpPr/>
          <p:nvPr/>
        </p:nvSpPr>
        <p:spPr>
          <a:xfrm>
            <a:off x="6324124" y="5615226"/>
            <a:ext cx="7468553" cy="383024"/>
          </a:xfrm>
          <a:prstGeom prst="rect">
            <a:avLst/>
          </a:prstGeom>
          <a:noFill/>
          <a:ln/>
        </p:spPr>
        <p:txBody>
          <a:bodyPr wrap="non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By RUPAK KUMAR, MANSI CHAUDHARY, MEHAK THAKUR</a:t>
            </a:r>
            <a:endParaRPr lang="en-US" sz="1850" dirty="0"/>
          </a:p>
        </p:txBody>
      </p:sp>
      <p:sp>
        <p:nvSpPr>
          <p:cNvPr id="6" name="Text 3"/>
          <p:cNvSpPr/>
          <p:nvPr/>
        </p:nvSpPr>
        <p:spPr>
          <a:xfrm>
            <a:off x="6324124" y="6267450"/>
            <a:ext cx="7468553" cy="383024"/>
          </a:xfrm>
          <a:prstGeom prst="rect">
            <a:avLst/>
          </a:prstGeom>
          <a:noFill/>
          <a:ln/>
        </p:spPr>
        <p:txBody>
          <a:bodyPr wrap="none" lIns="0" tIns="0" rIns="0" bIns="0" rtlCol="0" anchor="t"/>
          <a:lstStyle/>
          <a:p>
            <a:pPr algn="l" indent="0" marL="0">
              <a:lnSpc>
                <a:spcPts val="3000"/>
              </a:lnSpc>
              <a:buNone/>
            </a:pP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59738" y="597218"/>
            <a:ext cx="7871341" cy="638413"/>
          </a:xfrm>
          <a:prstGeom prst="rect">
            <a:avLst/>
          </a:prstGeom>
          <a:noFill/>
          <a:ln/>
        </p:spPr>
        <p:txBody>
          <a:bodyPr wrap="none" lIns="0" tIns="0" rIns="0" bIns="0" rtlCol="0" anchor="t"/>
          <a:lstStyle/>
          <a:p>
            <a:pPr algn="l" indent="0" marL="0">
              <a:lnSpc>
                <a:spcPts val="5000"/>
              </a:lnSpc>
              <a:buNone/>
            </a:pPr>
            <a:r>
              <a:rPr lang="en-US" sz="4000" dirty="0">
                <a:solidFill>
                  <a:srgbClr val="FFD9BE"/>
                </a:solidFill>
                <a:latin typeface="Quattrocento" pitchFamily="34" charset="0"/>
                <a:ea typeface="Quattrocento" pitchFamily="34" charset="-122"/>
                <a:cs typeface="Quattrocento" pitchFamily="34" charset="-120"/>
              </a:rPr>
              <a:t>What is Legal Document Analysis?</a:t>
            </a:r>
            <a:endParaRPr lang="en-US" sz="4000" dirty="0"/>
          </a:p>
        </p:txBody>
      </p:sp>
      <p:sp>
        <p:nvSpPr>
          <p:cNvPr id="3" name="Text 1"/>
          <p:cNvSpPr/>
          <p:nvPr/>
        </p:nvSpPr>
        <p:spPr>
          <a:xfrm>
            <a:off x="759738" y="1669732"/>
            <a:ext cx="13110924" cy="1388745"/>
          </a:xfrm>
          <a:prstGeom prst="rect">
            <a:avLst/>
          </a:prstGeom>
          <a:noFill/>
          <a:ln/>
        </p:spPr>
        <p:txBody>
          <a:bodyPr wrap="square" lIns="0" tIns="0" rIns="0" bIns="0" rtlCol="0" anchor="t"/>
          <a:lstStyle/>
          <a:p>
            <a:pPr algn="l" indent="0" marL="0">
              <a:lnSpc>
                <a:spcPts val="2700"/>
              </a:lnSpc>
              <a:buNone/>
            </a:pPr>
            <a:r>
              <a:rPr lang="en-US" sz="1700" dirty="0">
                <a:solidFill>
                  <a:srgbClr val="F9EEE7"/>
                </a:solidFill>
                <a:latin typeface="Quattrocento" pitchFamily="34" charset="0"/>
                <a:ea typeface="Quattrocento" pitchFamily="34" charset="-122"/>
                <a:cs typeface="Quattrocento" pitchFamily="34" charset="-120"/>
              </a:rPr>
              <a:t>Legal Document Analysis transforms the historically laborious task of manual legal review by leveraging the power of Artificial Intelligence. Traditional methods are often time-consuming and can be tedious, involving countless hours spent sifting through dense legal texts. Our AI-driven solution simplifies and accelerates this process, offering a streamlined alternative for extracting insights from legal documents.</a:t>
            </a:r>
            <a:endParaRPr lang="en-US" sz="1700" dirty="0"/>
          </a:p>
        </p:txBody>
      </p:sp>
      <p:sp>
        <p:nvSpPr>
          <p:cNvPr id="4" name="Text 2"/>
          <p:cNvSpPr/>
          <p:nvPr/>
        </p:nvSpPr>
        <p:spPr>
          <a:xfrm>
            <a:off x="759738" y="3302675"/>
            <a:ext cx="13110924" cy="1041559"/>
          </a:xfrm>
          <a:prstGeom prst="rect">
            <a:avLst/>
          </a:prstGeom>
          <a:noFill/>
          <a:ln/>
        </p:spPr>
        <p:txBody>
          <a:bodyPr wrap="square" lIns="0" tIns="0" rIns="0" bIns="0" rtlCol="0" anchor="t"/>
          <a:lstStyle/>
          <a:p>
            <a:pPr algn="l" indent="0" marL="0">
              <a:lnSpc>
                <a:spcPts val="2700"/>
              </a:lnSpc>
              <a:buNone/>
            </a:pPr>
            <a:r>
              <a:rPr lang="en-US" sz="1700" dirty="0">
                <a:solidFill>
                  <a:srgbClr val="F9EEE7"/>
                </a:solidFill>
                <a:latin typeface="Quattrocento" pitchFamily="34" charset="0"/>
                <a:ea typeface="Quattrocento" pitchFamily="34" charset="-122"/>
                <a:cs typeface="Quattrocento" pitchFamily="34" charset="-120"/>
              </a:rPr>
              <a:t>By employing advanced Natural Language Processing (NLP) models, our tool intelligently analyzes legal text, identifying critical information and patterns that might be missed by the human eye. This approach not only speeds up the analysis but also enhances accuracy and reduces the risk of errors, ensuring that legal professionals can make informed decisions with confidence.</a:t>
            </a:r>
            <a:endParaRPr lang="en-US" sz="1700" dirty="0"/>
          </a:p>
        </p:txBody>
      </p:sp>
      <p:pic>
        <p:nvPicPr>
          <p:cNvPr id="5" name="Image 0" descr="preencoded.png">    </p:cNvPr>
          <p:cNvPicPr>
            <a:picLocks noChangeAspect="1"/>
          </p:cNvPicPr>
          <p:nvPr/>
        </p:nvPicPr>
        <p:blipFill>
          <a:blip r:embed="rId1"/>
          <a:stretch>
            <a:fillRect/>
          </a:stretch>
        </p:blipFill>
        <p:spPr>
          <a:xfrm>
            <a:off x="759738" y="4626412"/>
            <a:ext cx="542568" cy="542568"/>
          </a:xfrm>
          <a:prstGeom prst="rect">
            <a:avLst/>
          </a:prstGeom>
        </p:spPr>
      </p:pic>
      <p:sp>
        <p:nvSpPr>
          <p:cNvPr id="6" name="Text 3"/>
          <p:cNvSpPr/>
          <p:nvPr/>
        </p:nvSpPr>
        <p:spPr>
          <a:xfrm>
            <a:off x="1519357" y="4588431"/>
            <a:ext cx="2553653" cy="319207"/>
          </a:xfrm>
          <a:prstGeom prst="rect">
            <a:avLst/>
          </a:prstGeom>
          <a:noFill/>
          <a:ln/>
        </p:spPr>
        <p:txBody>
          <a:bodyPr wrap="none" lIns="0" tIns="0" rIns="0" bIns="0" rtlCol="0" anchor="t"/>
          <a:lstStyle/>
          <a:p>
            <a:pPr algn="l" indent="0" marL="0">
              <a:lnSpc>
                <a:spcPts val="2500"/>
              </a:lnSpc>
              <a:buNone/>
            </a:pPr>
            <a:r>
              <a:rPr lang="en-US" sz="2000" dirty="0">
                <a:solidFill>
                  <a:srgbClr val="F9EEE7"/>
                </a:solidFill>
                <a:latin typeface="Quattrocento" pitchFamily="34" charset="0"/>
                <a:ea typeface="Quattrocento" pitchFamily="34" charset="-122"/>
                <a:cs typeface="Quattrocento" pitchFamily="34" charset="-120"/>
              </a:rPr>
              <a:t>Time Savings</a:t>
            </a:r>
            <a:endParaRPr lang="en-US" sz="2000" dirty="0"/>
          </a:p>
        </p:txBody>
      </p:sp>
      <p:pic>
        <p:nvPicPr>
          <p:cNvPr id="7" name="Image 1" descr="preencoded.png">    </p:cNvPr>
          <p:cNvPicPr>
            <a:picLocks noChangeAspect="1"/>
          </p:cNvPicPr>
          <p:nvPr/>
        </p:nvPicPr>
        <p:blipFill>
          <a:blip r:embed="rId2"/>
          <a:stretch>
            <a:fillRect/>
          </a:stretch>
        </p:blipFill>
        <p:spPr>
          <a:xfrm>
            <a:off x="759738" y="5858113"/>
            <a:ext cx="542568" cy="542568"/>
          </a:xfrm>
          <a:prstGeom prst="rect">
            <a:avLst/>
          </a:prstGeom>
        </p:spPr>
      </p:pic>
      <p:sp>
        <p:nvSpPr>
          <p:cNvPr id="8" name="Text 4"/>
          <p:cNvSpPr/>
          <p:nvPr/>
        </p:nvSpPr>
        <p:spPr>
          <a:xfrm>
            <a:off x="1519357" y="5820132"/>
            <a:ext cx="2553653" cy="319207"/>
          </a:xfrm>
          <a:prstGeom prst="rect">
            <a:avLst/>
          </a:prstGeom>
          <a:noFill/>
          <a:ln/>
        </p:spPr>
        <p:txBody>
          <a:bodyPr wrap="none" lIns="0" tIns="0" rIns="0" bIns="0" rtlCol="0" anchor="t"/>
          <a:lstStyle/>
          <a:p>
            <a:pPr algn="l" indent="0" marL="0">
              <a:lnSpc>
                <a:spcPts val="2500"/>
              </a:lnSpc>
              <a:buNone/>
            </a:pPr>
            <a:r>
              <a:rPr lang="en-US" sz="2000" dirty="0">
                <a:solidFill>
                  <a:srgbClr val="F9EEE7"/>
                </a:solidFill>
                <a:latin typeface="Quattrocento" pitchFamily="34" charset="0"/>
                <a:ea typeface="Quattrocento" pitchFamily="34" charset="-122"/>
                <a:cs typeface="Quattrocento" pitchFamily="34" charset="-120"/>
              </a:rPr>
              <a:t>Insight Extraction</a:t>
            </a:r>
            <a:endParaRPr lang="en-US" sz="2000" dirty="0"/>
          </a:p>
        </p:txBody>
      </p:sp>
      <p:pic>
        <p:nvPicPr>
          <p:cNvPr id="9" name="Image 2" descr="preencoded.png">    </p:cNvPr>
          <p:cNvPicPr>
            <a:picLocks noChangeAspect="1"/>
          </p:cNvPicPr>
          <p:nvPr/>
        </p:nvPicPr>
        <p:blipFill>
          <a:blip r:embed="rId3"/>
          <a:stretch>
            <a:fillRect/>
          </a:stretch>
        </p:blipFill>
        <p:spPr>
          <a:xfrm>
            <a:off x="759738" y="7089815"/>
            <a:ext cx="542568" cy="542568"/>
          </a:xfrm>
          <a:prstGeom prst="rect">
            <a:avLst/>
          </a:prstGeom>
        </p:spPr>
      </p:pic>
      <p:sp>
        <p:nvSpPr>
          <p:cNvPr id="10" name="Text 5"/>
          <p:cNvSpPr/>
          <p:nvPr/>
        </p:nvSpPr>
        <p:spPr>
          <a:xfrm>
            <a:off x="1519357" y="7051834"/>
            <a:ext cx="2553653" cy="319207"/>
          </a:xfrm>
          <a:prstGeom prst="rect">
            <a:avLst/>
          </a:prstGeom>
          <a:noFill/>
          <a:ln/>
        </p:spPr>
        <p:txBody>
          <a:bodyPr wrap="none" lIns="0" tIns="0" rIns="0" bIns="0" rtlCol="0" anchor="t"/>
          <a:lstStyle/>
          <a:p>
            <a:pPr algn="l" indent="0" marL="0">
              <a:lnSpc>
                <a:spcPts val="2500"/>
              </a:lnSpc>
              <a:buNone/>
            </a:pPr>
            <a:r>
              <a:rPr lang="en-US" sz="2000" dirty="0">
                <a:solidFill>
                  <a:srgbClr val="F9EEE7"/>
                </a:solidFill>
                <a:latin typeface="Quattrocento" pitchFamily="34" charset="0"/>
                <a:ea typeface="Quattrocento" pitchFamily="34" charset="-122"/>
                <a:cs typeface="Quattrocento" pitchFamily="34" charset="-120"/>
              </a:rPr>
              <a:t>Improved Accuracy</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96397" y="718304"/>
            <a:ext cx="4682014" cy="585192"/>
          </a:xfrm>
          <a:prstGeom prst="rect">
            <a:avLst/>
          </a:prstGeom>
          <a:noFill/>
          <a:ln/>
        </p:spPr>
        <p:txBody>
          <a:bodyPr wrap="none" lIns="0" tIns="0" rIns="0" bIns="0" rtlCol="0" anchor="t"/>
          <a:lstStyle/>
          <a:p>
            <a:pPr algn="l" indent="0" marL="0">
              <a:lnSpc>
                <a:spcPts val="4600"/>
              </a:lnSpc>
              <a:buNone/>
            </a:pPr>
            <a:r>
              <a:rPr lang="en-US" sz="3650" dirty="0">
                <a:solidFill>
                  <a:srgbClr val="FFD9BE"/>
                </a:solidFill>
                <a:latin typeface="Quattrocento" pitchFamily="34" charset="0"/>
                <a:ea typeface="Quattrocento" pitchFamily="34" charset="-122"/>
                <a:cs typeface="Quattrocento" pitchFamily="34" charset="-120"/>
              </a:rPr>
              <a:t>Key Capabilities</a:t>
            </a:r>
            <a:endParaRPr lang="en-US" sz="3650" dirty="0"/>
          </a:p>
        </p:txBody>
      </p:sp>
      <p:sp>
        <p:nvSpPr>
          <p:cNvPr id="4" name="Text 1"/>
          <p:cNvSpPr/>
          <p:nvPr/>
        </p:nvSpPr>
        <p:spPr>
          <a:xfrm>
            <a:off x="696397" y="1601867"/>
            <a:ext cx="7751207" cy="1273016"/>
          </a:xfrm>
          <a:prstGeom prst="rect">
            <a:avLst/>
          </a:prstGeom>
          <a:noFill/>
          <a:ln/>
        </p:spPr>
        <p:txBody>
          <a:bodyPr wrap="squar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Our Legal Document Analysis tool offers a suite of key capabilities designed to transform the way legal professionals interact with legal documents. With these capabilities, legal professionals can increase their productivity and accuracy, making the legal process more efficient and reliable.</a:t>
            </a:r>
            <a:endParaRPr lang="en-US" sz="1550" dirty="0"/>
          </a:p>
        </p:txBody>
      </p:sp>
      <p:sp>
        <p:nvSpPr>
          <p:cNvPr id="5" name="Shape 2"/>
          <p:cNvSpPr/>
          <p:nvPr/>
        </p:nvSpPr>
        <p:spPr>
          <a:xfrm>
            <a:off x="696397" y="3322558"/>
            <a:ext cx="447675" cy="447675"/>
          </a:xfrm>
          <a:prstGeom prst="roundRect">
            <a:avLst>
              <a:gd name="adj" fmla="val 6667"/>
            </a:avLst>
          </a:prstGeom>
          <a:solidFill>
            <a:srgbClr val="315251"/>
          </a:solidFill>
          <a:ln/>
        </p:spPr>
      </p:sp>
      <p:sp>
        <p:nvSpPr>
          <p:cNvPr id="6" name="Text 3"/>
          <p:cNvSpPr/>
          <p:nvPr/>
        </p:nvSpPr>
        <p:spPr>
          <a:xfrm>
            <a:off x="1343025" y="3322558"/>
            <a:ext cx="3006804" cy="292537"/>
          </a:xfrm>
          <a:prstGeom prst="rect">
            <a:avLst/>
          </a:prstGeom>
          <a:noFill/>
          <a:ln/>
        </p:spPr>
        <p:txBody>
          <a:bodyPr wrap="none" lIns="0" tIns="0" rIns="0" bIns="0" rtlCol="0" anchor="t"/>
          <a:lstStyle/>
          <a:p>
            <a:pPr algn="l" indent="0" marL="0">
              <a:lnSpc>
                <a:spcPts val="2300"/>
              </a:lnSpc>
              <a:buNone/>
            </a:pPr>
            <a:r>
              <a:rPr lang="en-US" sz="1800" dirty="0">
                <a:solidFill>
                  <a:srgbClr val="F9EEE7"/>
                </a:solidFill>
                <a:latin typeface="Quattrocento" pitchFamily="34" charset="0"/>
                <a:ea typeface="Quattrocento" pitchFamily="34" charset="-122"/>
                <a:cs typeface="Quattrocento" pitchFamily="34" charset="-120"/>
              </a:rPr>
              <a:t>Summarization with Flan-T5</a:t>
            </a:r>
            <a:endParaRPr lang="en-US" sz="1800" dirty="0"/>
          </a:p>
        </p:txBody>
      </p:sp>
      <p:sp>
        <p:nvSpPr>
          <p:cNvPr id="7" name="Text 4"/>
          <p:cNvSpPr/>
          <p:nvPr/>
        </p:nvSpPr>
        <p:spPr>
          <a:xfrm>
            <a:off x="1343025" y="3734395"/>
            <a:ext cx="7104578" cy="318254"/>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Quickly condense lengthy legal texts into concise summaries.</a:t>
            </a:r>
            <a:endParaRPr lang="en-US" sz="1550" dirty="0"/>
          </a:p>
        </p:txBody>
      </p:sp>
      <p:sp>
        <p:nvSpPr>
          <p:cNvPr id="8" name="Shape 5"/>
          <p:cNvSpPr/>
          <p:nvPr/>
        </p:nvSpPr>
        <p:spPr>
          <a:xfrm>
            <a:off x="696397" y="4475440"/>
            <a:ext cx="447675" cy="447675"/>
          </a:xfrm>
          <a:prstGeom prst="roundRect">
            <a:avLst>
              <a:gd name="adj" fmla="val 6667"/>
            </a:avLst>
          </a:prstGeom>
          <a:solidFill>
            <a:srgbClr val="315251"/>
          </a:solidFill>
          <a:ln/>
        </p:spPr>
      </p:sp>
      <p:sp>
        <p:nvSpPr>
          <p:cNvPr id="9" name="Text 6"/>
          <p:cNvSpPr/>
          <p:nvPr/>
        </p:nvSpPr>
        <p:spPr>
          <a:xfrm>
            <a:off x="1343025" y="4475440"/>
            <a:ext cx="3065502" cy="292537"/>
          </a:xfrm>
          <a:prstGeom prst="rect">
            <a:avLst/>
          </a:prstGeom>
          <a:noFill/>
          <a:ln/>
        </p:spPr>
        <p:txBody>
          <a:bodyPr wrap="none" lIns="0" tIns="0" rIns="0" bIns="0" rtlCol="0" anchor="t"/>
          <a:lstStyle/>
          <a:p>
            <a:pPr algn="l" indent="0" marL="0">
              <a:lnSpc>
                <a:spcPts val="2300"/>
              </a:lnSpc>
              <a:buNone/>
            </a:pPr>
            <a:r>
              <a:rPr lang="en-US" sz="1800" dirty="0">
                <a:solidFill>
                  <a:srgbClr val="F9EEE7"/>
                </a:solidFill>
                <a:latin typeface="Quattrocento" pitchFamily="34" charset="0"/>
                <a:ea typeface="Quattrocento" pitchFamily="34" charset="-122"/>
                <a:cs typeface="Quattrocento" pitchFamily="34" charset="-120"/>
              </a:rPr>
              <a:t>Entity Recognition with BERT</a:t>
            </a:r>
            <a:endParaRPr lang="en-US" sz="1800" dirty="0"/>
          </a:p>
        </p:txBody>
      </p:sp>
      <p:sp>
        <p:nvSpPr>
          <p:cNvPr id="10" name="Text 7"/>
          <p:cNvSpPr/>
          <p:nvPr/>
        </p:nvSpPr>
        <p:spPr>
          <a:xfrm>
            <a:off x="1343025" y="4887278"/>
            <a:ext cx="7104578" cy="318254"/>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Identify key names, organizations, and locations within the text.</a:t>
            </a:r>
            <a:endParaRPr lang="en-US" sz="1550" dirty="0"/>
          </a:p>
        </p:txBody>
      </p:sp>
      <p:sp>
        <p:nvSpPr>
          <p:cNvPr id="11" name="Shape 8"/>
          <p:cNvSpPr/>
          <p:nvPr/>
        </p:nvSpPr>
        <p:spPr>
          <a:xfrm>
            <a:off x="696397" y="5628323"/>
            <a:ext cx="447675" cy="447675"/>
          </a:xfrm>
          <a:prstGeom prst="roundRect">
            <a:avLst>
              <a:gd name="adj" fmla="val 6667"/>
            </a:avLst>
          </a:prstGeom>
          <a:solidFill>
            <a:srgbClr val="315251"/>
          </a:solidFill>
          <a:ln/>
        </p:spPr>
      </p:sp>
      <p:sp>
        <p:nvSpPr>
          <p:cNvPr id="12" name="Text 9"/>
          <p:cNvSpPr/>
          <p:nvPr/>
        </p:nvSpPr>
        <p:spPr>
          <a:xfrm>
            <a:off x="1343025" y="5628323"/>
            <a:ext cx="2341007" cy="292537"/>
          </a:xfrm>
          <a:prstGeom prst="rect">
            <a:avLst/>
          </a:prstGeom>
          <a:noFill/>
          <a:ln/>
        </p:spPr>
        <p:txBody>
          <a:bodyPr wrap="none" lIns="0" tIns="0" rIns="0" bIns="0" rtlCol="0" anchor="t"/>
          <a:lstStyle/>
          <a:p>
            <a:pPr algn="l" indent="0" marL="0">
              <a:lnSpc>
                <a:spcPts val="2300"/>
              </a:lnSpc>
              <a:buNone/>
            </a:pPr>
            <a:r>
              <a:rPr lang="en-US" sz="1800" dirty="0">
                <a:solidFill>
                  <a:srgbClr val="F9EEE7"/>
                </a:solidFill>
                <a:latin typeface="Quattrocento" pitchFamily="34" charset="0"/>
                <a:ea typeface="Quattrocento" pitchFamily="34" charset="-122"/>
                <a:cs typeface="Quattrocento" pitchFamily="34" charset="-120"/>
              </a:rPr>
              <a:t>OCR for PDFs</a:t>
            </a:r>
            <a:endParaRPr lang="en-US" sz="1800" dirty="0"/>
          </a:p>
        </p:txBody>
      </p:sp>
      <p:sp>
        <p:nvSpPr>
          <p:cNvPr id="13" name="Text 10"/>
          <p:cNvSpPr/>
          <p:nvPr/>
        </p:nvSpPr>
        <p:spPr>
          <a:xfrm>
            <a:off x="1343025" y="6040160"/>
            <a:ext cx="7104578" cy="318254"/>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Handle both digital and scanned PDFs using Optical Character Recognition.</a:t>
            </a:r>
            <a:endParaRPr lang="en-US" sz="1550" dirty="0"/>
          </a:p>
        </p:txBody>
      </p:sp>
      <p:sp>
        <p:nvSpPr>
          <p:cNvPr id="14" name="Shape 11"/>
          <p:cNvSpPr/>
          <p:nvPr/>
        </p:nvSpPr>
        <p:spPr>
          <a:xfrm>
            <a:off x="696397" y="6781205"/>
            <a:ext cx="447675" cy="447675"/>
          </a:xfrm>
          <a:prstGeom prst="roundRect">
            <a:avLst>
              <a:gd name="adj" fmla="val 6667"/>
            </a:avLst>
          </a:prstGeom>
          <a:solidFill>
            <a:srgbClr val="315251"/>
          </a:solidFill>
          <a:ln/>
        </p:spPr>
      </p:sp>
      <p:sp>
        <p:nvSpPr>
          <p:cNvPr id="15" name="Text 12"/>
          <p:cNvSpPr/>
          <p:nvPr/>
        </p:nvSpPr>
        <p:spPr>
          <a:xfrm>
            <a:off x="1343025" y="6781205"/>
            <a:ext cx="2341007" cy="292537"/>
          </a:xfrm>
          <a:prstGeom prst="rect">
            <a:avLst/>
          </a:prstGeom>
          <a:noFill/>
          <a:ln/>
        </p:spPr>
        <p:txBody>
          <a:bodyPr wrap="none" lIns="0" tIns="0" rIns="0" bIns="0" rtlCol="0" anchor="t"/>
          <a:lstStyle/>
          <a:p>
            <a:pPr algn="l" indent="0" marL="0">
              <a:lnSpc>
                <a:spcPts val="2300"/>
              </a:lnSpc>
              <a:buNone/>
            </a:pPr>
            <a:r>
              <a:rPr lang="en-US" sz="1800" dirty="0">
                <a:solidFill>
                  <a:srgbClr val="F9EEE7"/>
                </a:solidFill>
                <a:latin typeface="Quattrocento" pitchFamily="34" charset="0"/>
                <a:ea typeface="Quattrocento" pitchFamily="34" charset="-122"/>
                <a:cs typeface="Quattrocento" pitchFamily="34" charset="-120"/>
              </a:rPr>
              <a:t>Interactive Analysis</a:t>
            </a:r>
            <a:endParaRPr lang="en-US" sz="1800" dirty="0"/>
          </a:p>
        </p:txBody>
      </p:sp>
      <p:sp>
        <p:nvSpPr>
          <p:cNvPr id="16" name="Text 13"/>
          <p:cNvSpPr/>
          <p:nvPr/>
        </p:nvSpPr>
        <p:spPr>
          <a:xfrm>
            <a:off x="1343025" y="7193042"/>
            <a:ext cx="7104578" cy="318254"/>
          </a:xfrm>
          <a:prstGeom prst="rect">
            <a:avLst/>
          </a:prstGeom>
          <a:noFill/>
          <a:ln/>
        </p:spPr>
        <p:txBody>
          <a:bodyPr wrap="none" lIns="0" tIns="0" rIns="0" bIns="0" rtlCol="0" anchor="t"/>
          <a:lstStyle/>
          <a:p>
            <a:pPr algn="l" indent="0" marL="0">
              <a:lnSpc>
                <a:spcPts val="2500"/>
              </a:lnSpc>
              <a:buNone/>
            </a:pPr>
            <a:r>
              <a:rPr lang="en-US" sz="1550" dirty="0">
                <a:solidFill>
                  <a:srgbClr val="F9EEE7"/>
                </a:solidFill>
                <a:latin typeface="Quattrocento" pitchFamily="34" charset="0"/>
                <a:ea typeface="Quattrocento" pitchFamily="34" charset="-122"/>
                <a:cs typeface="Quattrocento" pitchFamily="34" charset="-120"/>
              </a:rPr>
              <a:t>Explore documents through an intuitive Streamlit user interface.</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7724" y="774740"/>
            <a:ext cx="5632490"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AI Models Used</a:t>
            </a:r>
            <a:endParaRPr lang="en-US" sz="4400" dirty="0"/>
          </a:p>
        </p:txBody>
      </p:sp>
      <p:sp>
        <p:nvSpPr>
          <p:cNvPr id="3" name="Text 1"/>
          <p:cNvSpPr/>
          <p:nvPr/>
        </p:nvSpPr>
        <p:spPr>
          <a:xfrm>
            <a:off x="837724" y="1957507"/>
            <a:ext cx="12954952" cy="1149072"/>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At the core of our Legal Document Analysis tool are powerful NLP models. These cutting-edge technologies work in tandem to deliver comprehensive and accurate analysis of legal documents, ensuring reliable results for legal professionals.</a:t>
            </a:r>
            <a:endParaRPr lang="en-US" sz="1850" dirty="0"/>
          </a:p>
        </p:txBody>
      </p:sp>
      <p:sp>
        <p:nvSpPr>
          <p:cNvPr id="4" name="Text 2"/>
          <p:cNvSpPr/>
          <p:nvPr/>
        </p:nvSpPr>
        <p:spPr>
          <a:xfrm>
            <a:off x="837724" y="3615095"/>
            <a:ext cx="3419594" cy="351949"/>
          </a:xfrm>
          <a:prstGeom prst="rect">
            <a:avLst/>
          </a:prstGeom>
          <a:noFill/>
          <a:ln/>
        </p:spPr>
        <p:txBody>
          <a:bodyPr wrap="none" lIns="0" tIns="0" rIns="0" bIns="0" rtlCol="0" anchor="t"/>
          <a:lstStyle/>
          <a:p>
            <a:pPr algn="l" indent="0" marL="0">
              <a:lnSpc>
                <a:spcPts val="2750"/>
              </a:lnSpc>
              <a:buNone/>
            </a:pPr>
            <a:r>
              <a:rPr lang="en-US" sz="2200" dirty="0">
                <a:solidFill>
                  <a:srgbClr val="FFD9BE"/>
                </a:solidFill>
                <a:latin typeface="Quattrocento" pitchFamily="34" charset="0"/>
                <a:ea typeface="Quattrocento" pitchFamily="34" charset="-122"/>
                <a:cs typeface="Quattrocento" pitchFamily="34" charset="-120"/>
              </a:rPr>
              <a:t>Flan-T5 for Summarization</a:t>
            </a:r>
            <a:endParaRPr lang="en-US" sz="2200" dirty="0"/>
          </a:p>
        </p:txBody>
      </p:sp>
      <p:sp>
        <p:nvSpPr>
          <p:cNvPr id="5" name="Text 3"/>
          <p:cNvSpPr/>
          <p:nvPr/>
        </p:nvSpPr>
        <p:spPr>
          <a:xfrm>
            <a:off x="837724" y="4206359"/>
            <a:ext cx="3928586" cy="2298144"/>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Fine-tuned for legal document understanding, Flan-T5 excels at condensing lengthy legal texts into concise, coherent summaries, enabling users to quickly grasp the essence of a document.</a:t>
            </a:r>
            <a:endParaRPr lang="en-US" sz="1850" dirty="0"/>
          </a:p>
        </p:txBody>
      </p:sp>
      <p:sp>
        <p:nvSpPr>
          <p:cNvPr id="6" name="Text 4"/>
          <p:cNvSpPr/>
          <p:nvPr/>
        </p:nvSpPr>
        <p:spPr>
          <a:xfrm>
            <a:off x="5357813" y="3615095"/>
            <a:ext cx="3928586" cy="703898"/>
          </a:xfrm>
          <a:prstGeom prst="rect">
            <a:avLst/>
          </a:prstGeom>
          <a:noFill/>
          <a:ln/>
        </p:spPr>
        <p:txBody>
          <a:bodyPr wrap="square" lIns="0" tIns="0" rIns="0" bIns="0" rtlCol="0" anchor="t"/>
          <a:lstStyle/>
          <a:p>
            <a:pPr algn="l" indent="0" marL="0">
              <a:lnSpc>
                <a:spcPts val="2750"/>
              </a:lnSpc>
              <a:buNone/>
            </a:pPr>
            <a:r>
              <a:rPr lang="en-US" sz="2200" dirty="0">
                <a:solidFill>
                  <a:srgbClr val="FFD9BE"/>
                </a:solidFill>
                <a:latin typeface="Quattrocento" pitchFamily="34" charset="0"/>
                <a:ea typeface="Quattrocento" pitchFamily="34" charset="-122"/>
                <a:cs typeface="Quattrocento" pitchFamily="34" charset="-120"/>
              </a:rPr>
              <a:t>BERT (NER) for Entity Recognition</a:t>
            </a:r>
            <a:endParaRPr lang="en-US" sz="2200" dirty="0"/>
          </a:p>
        </p:txBody>
      </p:sp>
      <p:sp>
        <p:nvSpPr>
          <p:cNvPr id="7" name="Text 5"/>
          <p:cNvSpPr/>
          <p:nvPr/>
        </p:nvSpPr>
        <p:spPr>
          <a:xfrm>
            <a:off x="5357813" y="4558308"/>
            <a:ext cx="3928586" cy="2681168"/>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BERT is trained to identify key entities such as people, organizations, and locations, streamlining the process of extracting crucial information from legal documents. This is key in finding evidence and related cases.</a:t>
            </a:r>
            <a:endParaRPr lang="en-US" sz="1850" dirty="0"/>
          </a:p>
        </p:txBody>
      </p:sp>
      <p:sp>
        <p:nvSpPr>
          <p:cNvPr id="8" name="Text 6"/>
          <p:cNvSpPr/>
          <p:nvPr/>
        </p:nvSpPr>
        <p:spPr>
          <a:xfrm>
            <a:off x="9877901" y="3615095"/>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FD9BE"/>
                </a:solidFill>
                <a:latin typeface="Quattrocento" pitchFamily="34" charset="0"/>
                <a:ea typeface="Quattrocento" pitchFamily="34" charset="-122"/>
                <a:cs typeface="Quattrocento" pitchFamily="34" charset="-120"/>
              </a:rPr>
              <a:t>OCR Integration</a:t>
            </a:r>
            <a:endParaRPr lang="en-US" sz="2200" dirty="0"/>
          </a:p>
        </p:txBody>
      </p:sp>
      <p:sp>
        <p:nvSpPr>
          <p:cNvPr id="9" name="Text 7"/>
          <p:cNvSpPr/>
          <p:nvPr/>
        </p:nvSpPr>
        <p:spPr>
          <a:xfrm>
            <a:off x="9877901" y="4206359"/>
            <a:ext cx="3928586" cy="2298144"/>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Optical Character Recognition (OCR) technology extracts text from scanned PDFs, making the content accessible for analysis by our AI models, ensuring compatibility with all types of legal documents.</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48533" y="658535"/>
            <a:ext cx="7846933" cy="1089898"/>
          </a:xfrm>
          <a:prstGeom prst="rect">
            <a:avLst/>
          </a:prstGeom>
          <a:noFill/>
          <a:ln/>
        </p:spPr>
        <p:txBody>
          <a:bodyPr wrap="square" lIns="0" tIns="0" rIns="0" bIns="0" rtlCol="0" anchor="t"/>
          <a:lstStyle/>
          <a:p>
            <a:pPr algn="l" indent="0" marL="0">
              <a:lnSpc>
                <a:spcPts val="4250"/>
              </a:lnSpc>
              <a:buNone/>
            </a:pPr>
            <a:r>
              <a:rPr lang="en-US" sz="3400" dirty="0">
                <a:solidFill>
                  <a:srgbClr val="FFD9BE"/>
                </a:solidFill>
                <a:latin typeface="Quattrocento" pitchFamily="34" charset="0"/>
                <a:ea typeface="Quattrocento" pitchFamily="34" charset="-122"/>
                <a:cs typeface="Quattrocento" pitchFamily="34" charset="-120"/>
              </a:rPr>
              <a:t>Workflow of the Legal Document Analyzer</a:t>
            </a:r>
            <a:endParaRPr lang="en-US" sz="3400" dirty="0"/>
          </a:p>
        </p:txBody>
      </p:sp>
      <p:sp>
        <p:nvSpPr>
          <p:cNvPr id="4" name="Text 1"/>
          <p:cNvSpPr/>
          <p:nvPr/>
        </p:nvSpPr>
        <p:spPr>
          <a:xfrm>
            <a:off x="648533" y="2026325"/>
            <a:ext cx="7846933" cy="889040"/>
          </a:xfrm>
          <a:prstGeom prst="rect">
            <a:avLst/>
          </a:prstGeom>
          <a:noFill/>
          <a:ln/>
        </p:spPr>
        <p:txBody>
          <a:bodyPr wrap="square" lIns="0" tIns="0" rIns="0" bIns="0" rtlCol="0" anchor="t"/>
          <a:lstStyle/>
          <a:p>
            <a:pPr algn="l" indent="0" marL="0">
              <a:lnSpc>
                <a:spcPts val="2300"/>
              </a:lnSpc>
              <a:buNone/>
            </a:pPr>
            <a:r>
              <a:rPr lang="en-US" sz="1450" dirty="0">
                <a:solidFill>
                  <a:srgbClr val="F9EEE7"/>
                </a:solidFill>
                <a:latin typeface="Quattrocento" pitchFamily="34" charset="0"/>
                <a:ea typeface="Quattrocento" pitchFamily="34" charset="-122"/>
                <a:cs typeface="Quattrocento" pitchFamily="34" charset="-120"/>
              </a:rPr>
              <a:t>The Legal Document Analyzer's workflow is a seamless integration of advanced AI technologies designed to streamline the legal document analysis process. Each step is optimized to ensure accuracy, efficiency, and actionable insights for legal professionals.</a:t>
            </a:r>
            <a:endParaRPr lang="en-US" sz="1450" dirty="0"/>
          </a:p>
        </p:txBody>
      </p:sp>
      <p:pic>
        <p:nvPicPr>
          <p:cNvPr id="5" name="Image 1" descr="preencoded.png">    </p:cNvPr>
          <p:cNvPicPr>
            <a:picLocks noChangeAspect="1"/>
          </p:cNvPicPr>
          <p:nvPr/>
        </p:nvPicPr>
        <p:blipFill>
          <a:blip r:embed="rId2"/>
          <a:stretch>
            <a:fillRect/>
          </a:stretch>
        </p:blipFill>
        <p:spPr>
          <a:xfrm>
            <a:off x="648533" y="3123843"/>
            <a:ext cx="926544" cy="1111806"/>
          </a:xfrm>
          <a:prstGeom prst="rect">
            <a:avLst/>
          </a:prstGeom>
        </p:spPr>
      </p:pic>
      <p:sp>
        <p:nvSpPr>
          <p:cNvPr id="6" name="Text 2"/>
          <p:cNvSpPr/>
          <p:nvPr/>
        </p:nvSpPr>
        <p:spPr>
          <a:xfrm>
            <a:off x="1852970" y="3309104"/>
            <a:ext cx="2180153" cy="272415"/>
          </a:xfrm>
          <a:prstGeom prst="rect">
            <a:avLst/>
          </a:prstGeom>
          <a:noFill/>
          <a:ln/>
        </p:spPr>
        <p:txBody>
          <a:bodyPr wrap="none" lIns="0" tIns="0" rIns="0" bIns="0" rtlCol="0" anchor="t"/>
          <a:lstStyle/>
          <a:p>
            <a:pPr algn="l" indent="0" marL="0">
              <a:lnSpc>
                <a:spcPts val="2100"/>
              </a:lnSpc>
              <a:buNone/>
            </a:pPr>
            <a:r>
              <a:rPr lang="en-US" sz="1700" dirty="0">
                <a:solidFill>
                  <a:srgbClr val="F9EEE7"/>
                </a:solidFill>
                <a:latin typeface="Quattrocento" pitchFamily="34" charset="0"/>
                <a:ea typeface="Quattrocento" pitchFamily="34" charset="-122"/>
                <a:cs typeface="Quattrocento" pitchFamily="34" charset="-120"/>
              </a:rPr>
              <a:t>Document Input</a:t>
            </a:r>
            <a:endParaRPr lang="en-US" sz="1700" dirty="0"/>
          </a:p>
        </p:txBody>
      </p:sp>
      <p:sp>
        <p:nvSpPr>
          <p:cNvPr id="7" name="Text 3"/>
          <p:cNvSpPr/>
          <p:nvPr/>
        </p:nvSpPr>
        <p:spPr>
          <a:xfrm>
            <a:off x="1852970" y="3692604"/>
            <a:ext cx="6642497" cy="296347"/>
          </a:xfrm>
          <a:prstGeom prst="rect">
            <a:avLst/>
          </a:prstGeom>
          <a:noFill/>
          <a:ln/>
        </p:spPr>
        <p:txBody>
          <a:bodyPr wrap="none" lIns="0" tIns="0" rIns="0" bIns="0" rtlCol="0" anchor="t"/>
          <a:lstStyle/>
          <a:p>
            <a:pPr algn="l" indent="0" marL="0">
              <a:lnSpc>
                <a:spcPts val="2300"/>
              </a:lnSpc>
              <a:buNone/>
            </a:pPr>
            <a:r>
              <a:rPr lang="en-US" sz="1450" dirty="0">
                <a:solidFill>
                  <a:srgbClr val="F9EEE7"/>
                </a:solidFill>
                <a:latin typeface="Quattrocento" pitchFamily="34" charset="0"/>
                <a:ea typeface="Quattrocento" pitchFamily="34" charset="-122"/>
                <a:cs typeface="Quattrocento" pitchFamily="34" charset="-120"/>
              </a:rPr>
              <a:t>Upload digital or scanned PDFs.</a:t>
            </a:r>
            <a:endParaRPr lang="en-US" sz="1450" dirty="0"/>
          </a:p>
        </p:txBody>
      </p:sp>
      <p:pic>
        <p:nvPicPr>
          <p:cNvPr id="8" name="Image 2" descr="preencoded.png">    </p:cNvPr>
          <p:cNvPicPr>
            <a:picLocks noChangeAspect="1"/>
          </p:cNvPicPr>
          <p:nvPr/>
        </p:nvPicPr>
        <p:blipFill>
          <a:blip r:embed="rId3"/>
          <a:stretch>
            <a:fillRect/>
          </a:stretch>
        </p:blipFill>
        <p:spPr>
          <a:xfrm>
            <a:off x="648533" y="4235648"/>
            <a:ext cx="926544" cy="1111806"/>
          </a:xfrm>
          <a:prstGeom prst="rect">
            <a:avLst/>
          </a:prstGeom>
        </p:spPr>
      </p:pic>
      <p:sp>
        <p:nvSpPr>
          <p:cNvPr id="9" name="Text 4"/>
          <p:cNvSpPr/>
          <p:nvPr/>
        </p:nvSpPr>
        <p:spPr>
          <a:xfrm>
            <a:off x="1852970" y="4420910"/>
            <a:ext cx="2180153" cy="272415"/>
          </a:xfrm>
          <a:prstGeom prst="rect">
            <a:avLst/>
          </a:prstGeom>
          <a:noFill/>
          <a:ln/>
        </p:spPr>
        <p:txBody>
          <a:bodyPr wrap="none" lIns="0" tIns="0" rIns="0" bIns="0" rtlCol="0" anchor="t"/>
          <a:lstStyle/>
          <a:p>
            <a:pPr algn="l" indent="0" marL="0">
              <a:lnSpc>
                <a:spcPts val="2100"/>
              </a:lnSpc>
              <a:buNone/>
            </a:pPr>
            <a:r>
              <a:rPr lang="en-US" sz="1700" dirty="0">
                <a:solidFill>
                  <a:srgbClr val="F9EEE7"/>
                </a:solidFill>
                <a:latin typeface="Quattrocento" pitchFamily="34" charset="0"/>
                <a:ea typeface="Quattrocento" pitchFamily="34" charset="-122"/>
                <a:cs typeface="Quattrocento" pitchFamily="34" charset="-120"/>
              </a:rPr>
              <a:t>Text Extraction</a:t>
            </a:r>
            <a:endParaRPr lang="en-US" sz="1700" dirty="0"/>
          </a:p>
        </p:txBody>
      </p:sp>
      <p:sp>
        <p:nvSpPr>
          <p:cNvPr id="10" name="Text 5"/>
          <p:cNvSpPr/>
          <p:nvPr/>
        </p:nvSpPr>
        <p:spPr>
          <a:xfrm>
            <a:off x="1852970" y="4804410"/>
            <a:ext cx="6642497" cy="296347"/>
          </a:xfrm>
          <a:prstGeom prst="rect">
            <a:avLst/>
          </a:prstGeom>
          <a:noFill/>
          <a:ln/>
        </p:spPr>
        <p:txBody>
          <a:bodyPr wrap="none" lIns="0" tIns="0" rIns="0" bIns="0" rtlCol="0" anchor="t"/>
          <a:lstStyle/>
          <a:p>
            <a:pPr algn="l" indent="0" marL="0">
              <a:lnSpc>
                <a:spcPts val="2300"/>
              </a:lnSpc>
              <a:buNone/>
            </a:pPr>
            <a:r>
              <a:rPr lang="en-US" sz="1450" dirty="0">
                <a:solidFill>
                  <a:srgbClr val="F9EEE7"/>
                </a:solidFill>
                <a:latin typeface="Quattrocento" pitchFamily="34" charset="0"/>
                <a:ea typeface="Quattrocento" pitchFamily="34" charset="-122"/>
                <a:cs typeface="Quattrocento" pitchFamily="34" charset="-120"/>
              </a:rPr>
              <a:t>OCR extracts text from scanned documents.</a:t>
            </a:r>
            <a:endParaRPr lang="en-US" sz="1450" dirty="0"/>
          </a:p>
        </p:txBody>
      </p:sp>
      <p:pic>
        <p:nvPicPr>
          <p:cNvPr id="11" name="Image 3" descr="preencoded.png">    </p:cNvPr>
          <p:cNvPicPr>
            <a:picLocks noChangeAspect="1"/>
          </p:cNvPicPr>
          <p:nvPr/>
        </p:nvPicPr>
        <p:blipFill>
          <a:blip r:embed="rId4"/>
          <a:stretch>
            <a:fillRect/>
          </a:stretch>
        </p:blipFill>
        <p:spPr>
          <a:xfrm>
            <a:off x="648533" y="5347454"/>
            <a:ext cx="926544" cy="1111806"/>
          </a:xfrm>
          <a:prstGeom prst="rect">
            <a:avLst/>
          </a:prstGeom>
        </p:spPr>
      </p:pic>
      <p:sp>
        <p:nvSpPr>
          <p:cNvPr id="12" name="Text 6"/>
          <p:cNvSpPr/>
          <p:nvPr/>
        </p:nvSpPr>
        <p:spPr>
          <a:xfrm>
            <a:off x="1852970" y="5532715"/>
            <a:ext cx="2180153" cy="272415"/>
          </a:xfrm>
          <a:prstGeom prst="rect">
            <a:avLst/>
          </a:prstGeom>
          <a:noFill/>
          <a:ln/>
        </p:spPr>
        <p:txBody>
          <a:bodyPr wrap="none" lIns="0" tIns="0" rIns="0" bIns="0" rtlCol="0" anchor="t"/>
          <a:lstStyle/>
          <a:p>
            <a:pPr algn="l" indent="0" marL="0">
              <a:lnSpc>
                <a:spcPts val="2100"/>
              </a:lnSpc>
              <a:buNone/>
            </a:pPr>
            <a:r>
              <a:rPr lang="en-US" sz="1700" dirty="0">
                <a:solidFill>
                  <a:srgbClr val="F9EEE7"/>
                </a:solidFill>
                <a:latin typeface="Quattrocento" pitchFamily="34" charset="0"/>
                <a:ea typeface="Quattrocento" pitchFamily="34" charset="-122"/>
                <a:cs typeface="Quattrocento" pitchFamily="34" charset="-120"/>
              </a:rPr>
              <a:t>AI Analysis</a:t>
            </a:r>
            <a:endParaRPr lang="en-US" sz="1700" dirty="0"/>
          </a:p>
        </p:txBody>
      </p:sp>
      <p:sp>
        <p:nvSpPr>
          <p:cNvPr id="13" name="Text 7"/>
          <p:cNvSpPr/>
          <p:nvPr/>
        </p:nvSpPr>
        <p:spPr>
          <a:xfrm>
            <a:off x="1852970" y="5916216"/>
            <a:ext cx="6642497" cy="296347"/>
          </a:xfrm>
          <a:prstGeom prst="rect">
            <a:avLst/>
          </a:prstGeom>
          <a:noFill/>
          <a:ln/>
        </p:spPr>
        <p:txBody>
          <a:bodyPr wrap="none" lIns="0" tIns="0" rIns="0" bIns="0" rtlCol="0" anchor="t"/>
          <a:lstStyle/>
          <a:p>
            <a:pPr algn="l" indent="0" marL="0">
              <a:lnSpc>
                <a:spcPts val="2300"/>
              </a:lnSpc>
              <a:buNone/>
            </a:pPr>
            <a:r>
              <a:rPr lang="en-US" sz="1450" dirty="0">
                <a:solidFill>
                  <a:srgbClr val="F9EEE7"/>
                </a:solidFill>
                <a:latin typeface="Quattrocento" pitchFamily="34" charset="0"/>
                <a:ea typeface="Quattrocento" pitchFamily="34" charset="-122"/>
                <a:cs typeface="Quattrocento" pitchFamily="34" charset="-120"/>
              </a:rPr>
              <a:t>Flan-T5 summarizes the document, BERT identifies entities.</a:t>
            </a:r>
            <a:endParaRPr lang="en-US" sz="1450" dirty="0"/>
          </a:p>
        </p:txBody>
      </p:sp>
      <p:pic>
        <p:nvPicPr>
          <p:cNvPr id="14" name="Image 4" descr="preencoded.png">    </p:cNvPr>
          <p:cNvPicPr>
            <a:picLocks noChangeAspect="1"/>
          </p:cNvPicPr>
          <p:nvPr/>
        </p:nvPicPr>
        <p:blipFill>
          <a:blip r:embed="rId5"/>
          <a:stretch>
            <a:fillRect/>
          </a:stretch>
        </p:blipFill>
        <p:spPr>
          <a:xfrm>
            <a:off x="648533" y="6459260"/>
            <a:ext cx="926544" cy="1111806"/>
          </a:xfrm>
          <a:prstGeom prst="rect">
            <a:avLst/>
          </a:prstGeom>
        </p:spPr>
      </p:pic>
      <p:sp>
        <p:nvSpPr>
          <p:cNvPr id="15" name="Text 8"/>
          <p:cNvSpPr/>
          <p:nvPr/>
        </p:nvSpPr>
        <p:spPr>
          <a:xfrm>
            <a:off x="1852970" y="6644521"/>
            <a:ext cx="2180153" cy="272415"/>
          </a:xfrm>
          <a:prstGeom prst="rect">
            <a:avLst/>
          </a:prstGeom>
          <a:noFill/>
          <a:ln/>
        </p:spPr>
        <p:txBody>
          <a:bodyPr wrap="none" lIns="0" tIns="0" rIns="0" bIns="0" rtlCol="0" anchor="t"/>
          <a:lstStyle/>
          <a:p>
            <a:pPr algn="l" indent="0" marL="0">
              <a:lnSpc>
                <a:spcPts val="2100"/>
              </a:lnSpc>
              <a:buNone/>
            </a:pPr>
            <a:r>
              <a:rPr lang="en-US" sz="1700" dirty="0">
                <a:solidFill>
                  <a:srgbClr val="F9EEE7"/>
                </a:solidFill>
                <a:latin typeface="Quattrocento" pitchFamily="34" charset="0"/>
                <a:ea typeface="Quattrocento" pitchFamily="34" charset="-122"/>
                <a:cs typeface="Quattrocento" pitchFamily="34" charset="-120"/>
              </a:rPr>
              <a:t>Interactive Review</a:t>
            </a:r>
            <a:endParaRPr lang="en-US" sz="1700" dirty="0"/>
          </a:p>
        </p:txBody>
      </p:sp>
      <p:sp>
        <p:nvSpPr>
          <p:cNvPr id="16" name="Text 9"/>
          <p:cNvSpPr/>
          <p:nvPr/>
        </p:nvSpPr>
        <p:spPr>
          <a:xfrm>
            <a:off x="1852970" y="7028021"/>
            <a:ext cx="6642497" cy="296347"/>
          </a:xfrm>
          <a:prstGeom prst="rect">
            <a:avLst/>
          </a:prstGeom>
          <a:noFill/>
          <a:ln/>
        </p:spPr>
        <p:txBody>
          <a:bodyPr wrap="none" lIns="0" tIns="0" rIns="0" bIns="0" rtlCol="0" anchor="t"/>
          <a:lstStyle/>
          <a:p>
            <a:pPr algn="l" indent="0" marL="0">
              <a:lnSpc>
                <a:spcPts val="2300"/>
              </a:lnSpc>
              <a:buNone/>
            </a:pPr>
            <a:r>
              <a:rPr lang="en-US" sz="1450" dirty="0">
                <a:solidFill>
                  <a:srgbClr val="F9EEE7"/>
                </a:solidFill>
                <a:latin typeface="Quattrocento" pitchFamily="34" charset="0"/>
                <a:ea typeface="Quattrocento" pitchFamily="34" charset="-122"/>
                <a:cs typeface="Quattrocento" pitchFamily="34" charset="-120"/>
              </a:rPr>
              <a:t>Review summary and entities in Streamlit UI.</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799505"/>
            <a:ext cx="6812042"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Fine-Tuning for Legal Texts</a:t>
            </a:r>
            <a:endParaRPr lang="en-US" sz="4400" dirty="0"/>
          </a:p>
        </p:txBody>
      </p:sp>
      <p:sp>
        <p:nvSpPr>
          <p:cNvPr id="3" name="Text 1"/>
          <p:cNvSpPr/>
          <p:nvPr/>
        </p:nvSpPr>
        <p:spPr>
          <a:xfrm>
            <a:off x="837724" y="1982272"/>
            <a:ext cx="12954952" cy="1149072"/>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To achieve optimal performance, our AI models undergo a rigorous fine-tuning process using a specialized corpus of legal texts. This ensures that the models are adept at understanding the nuances and complexities of legal language, leading to more accurate and reliable results.</a:t>
            </a:r>
            <a:endParaRPr lang="en-US" sz="1850" dirty="0"/>
          </a:p>
        </p:txBody>
      </p:sp>
      <p:pic>
        <p:nvPicPr>
          <p:cNvPr id="4" name="Image 0" descr="preencoded.png">    </p:cNvPr>
          <p:cNvPicPr>
            <a:picLocks noChangeAspect="1"/>
          </p:cNvPicPr>
          <p:nvPr/>
        </p:nvPicPr>
        <p:blipFill>
          <a:blip r:embed="rId1"/>
          <a:stretch>
            <a:fillRect/>
          </a:stretch>
        </p:blipFill>
        <p:spPr>
          <a:xfrm>
            <a:off x="3007638" y="3400544"/>
            <a:ext cx="2137529" cy="830580"/>
          </a:xfrm>
          <a:prstGeom prst="rect">
            <a:avLst/>
          </a:prstGeom>
        </p:spPr>
      </p:pic>
      <p:sp>
        <p:nvSpPr>
          <p:cNvPr id="5" name="Text 2"/>
          <p:cNvSpPr/>
          <p:nvPr/>
        </p:nvSpPr>
        <p:spPr>
          <a:xfrm>
            <a:off x="3907988" y="3694033"/>
            <a:ext cx="336590" cy="420767"/>
          </a:xfrm>
          <a:prstGeom prst="rect">
            <a:avLst/>
          </a:prstGeom>
          <a:noFill/>
          <a:ln/>
        </p:spPr>
        <p:txBody>
          <a:bodyPr wrap="none" lIns="0" tIns="0" rIns="0" bIns="0" rtlCol="0" anchor="t"/>
          <a:lstStyle/>
          <a:p>
            <a:pPr algn="ctr" indent="0" marL="0">
              <a:lnSpc>
                <a:spcPts val="4200"/>
              </a:lnSpc>
              <a:buNone/>
            </a:pPr>
            <a:r>
              <a:rPr lang="en-US" sz="2650" dirty="0">
                <a:solidFill>
                  <a:srgbClr val="F9EEE7"/>
                </a:solidFill>
                <a:latin typeface="Quattrocento" pitchFamily="34" charset="0"/>
                <a:ea typeface="Quattrocento" pitchFamily="34" charset="-122"/>
                <a:cs typeface="Quattrocento" pitchFamily="34" charset="-120"/>
              </a:rPr>
              <a:t>1</a:t>
            </a:r>
            <a:endParaRPr lang="en-US" sz="2650" dirty="0"/>
          </a:p>
        </p:txBody>
      </p:sp>
      <p:sp>
        <p:nvSpPr>
          <p:cNvPr id="6" name="Text 3"/>
          <p:cNvSpPr/>
          <p:nvPr/>
        </p:nvSpPr>
        <p:spPr>
          <a:xfrm>
            <a:off x="5384482" y="3639860"/>
            <a:ext cx="2425422"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Specialized Corpus</a:t>
            </a:r>
            <a:endParaRPr lang="en-US" sz="2200" dirty="0"/>
          </a:p>
        </p:txBody>
      </p:sp>
      <p:sp>
        <p:nvSpPr>
          <p:cNvPr id="7" name="Shape 4"/>
          <p:cNvSpPr/>
          <p:nvPr/>
        </p:nvSpPr>
        <p:spPr>
          <a:xfrm>
            <a:off x="5204936" y="4245769"/>
            <a:ext cx="8527971" cy="15240"/>
          </a:xfrm>
          <a:prstGeom prst="roundRect">
            <a:avLst>
              <a:gd name="adj" fmla="val 235611"/>
            </a:avLst>
          </a:prstGeom>
          <a:solidFill>
            <a:srgbClr val="4A6B6A"/>
          </a:solidFill>
          <a:ln/>
        </p:spPr>
      </p:sp>
      <p:pic>
        <p:nvPicPr>
          <p:cNvPr id="8" name="Image 1" descr="preencoded.png">    </p:cNvPr>
          <p:cNvPicPr>
            <a:picLocks noChangeAspect="1"/>
          </p:cNvPicPr>
          <p:nvPr/>
        </p:nvPicPr>
        <p:blipFill>
          <a:blip r:embed="rId2"/>
          <a:stretch>
            <a:fillRect/>
          </a:stretch>
        </p:blipFill>
        <p:spPr>
          <a:xfrm>
            <a:off x="1938814" y="4290893"/>
            <a:ext cx="4275058" cy="830580"/>
          </a:xfrm>
          <a:prstGeom prst="rect">
            <a:avLst/>
          </a:prstGeom>
        </p:spPr>
      </p:pic>
      <p:sp>
        <p:nvSpPr>
          <p:cNvPr id="9" name="Text 5"/>
          <p:cNvSpPr/>
          <p:nvPr/>
        </p:nvSpPr>
        <p:spPr>
          <a:xfrm>
            <a:off x="3907988" y="4495800"/>
            <a:ext cx="336590" cy="420767"/>
          </a:xfrm>
          <a:prstGeom prst="rect">
            <a:avLst/>
          </a:prstGeom>
          <a:noFill/>
          <a:ln/>
        </p:spPr>
        <p:txBody>
          <a:bodyPr wrap="none" lIns="0" tIns="0" rIns="0" bIns="0" rtlCol="0" anchor="t"/>
          <a:lstStyle/>
          <a:p>
            <a:pPr algn="ctr" indent="0" marL="0">
              <a:lnSpc>
                <a:spcPts val="4200"/>
              </a:lnSpc>
              <a:buNone/>
            </a:pPr>
            <a:r>
              <a:rPr lang="en-US" sz="2650" dirty="0">
                <a:solidFill>
                  <a:srgbClr val="F9EEE7"/>
                </a:solidFill>
                <a:latin typeface="Quattrocento" pitchFamily="34" charset="0"/>
                <a:ea typeface="Quattrocento" pitchFamily="34" charset="-122"/>
                <a:cs typeface="Quattrocento" pitchFamily="34" charset="-120"/>
              </a:rPr>
              <a:t>2</a:t>
            </a:r>
            <a:endParaRPr lang="en-US" sz="2650" dirty="0"/>
          </a:p>
        </p:txBody>
      </p:sp>
      <p:sp>
        <p:nvSpPr>
          <p:cNvPr id="10" name="Text 6"/>
          <p:cNvSpPr/>
          <p:nvPr/>
        </p:nvSpPr>
        <p:spPr>
          <a:xfrm>
            <a:off x="6453187" y="4530209"/>
            <a:ext cx="2505670"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Enhanced Accuracy</a:t>
            </a:r>
            <a:endParaRPr lang="en-US" sz="2200" dirty="0"/>
          </a:p>
        </p:txBody>
      </p:sp>
      <p:sp>
        <p:nvSpPr>
          <p:cNvPr id="11" name="Shape 7"/>
          <p:cNvSpPr/>
          <p:nvPr/>
        </p:nvSpPr>
        <p:spPr>
          <a:xfrm>
            <a:off x="6273641" y="5136118"/>
            <a:ext cx="7459266" cy="15240"/>
          </a:xfrm>
          <a:prstGeom prst="roundRect">
            <a:avLst>
              <a:gd name="adj" fmla="val 235611"/>
            </a:avLst>
          </a:prstGeom>
          <a:solidFill>
            <a:srgbClr val="4A6B6A"/>
          </a:solidFill>
          <a:ln/>
        </p:spPr>
      </p:sp>
      <p:pic>
        <p:nvPicPr>
          <p:cNvPr id="12" name="Image 2" descr="preencoded.png">    </p:cNvPr>
          <p:cNvPicPr>
            <a:picLocks noChangeAspect="1"/>
          </p:cNvPicPr>
          <p:nvPr/>
        </p:nvPicPr>
        <p:blipFill>
          <a:blip r:embed="rId3"/>
          <a:stretch>
            <a:fillRect/>
          </a:stretch>
        </p:blipFill>
        <p:spPr>
          <a:xfrm>
            <a:off x="870109" y="5181243"/>
            <a:ext cx="6412587" cy="830580"/>
          </a:xfrm>
          <a:prstGeom prst="rect">
            <a:avLst/>
          </a:prstGeom>
        </p:spPr>
      </p:pic>
      <p:sp>
        <p:nvSpPr>
          <p:cNvPr id="13" name="Text 8"/>
          <p:cNvSpPr/>
          <p:nvPr/>
        </p:nvSpPr>
        <p:spPr>
          <a:xfrm>
            <a:off x="3908107" y="5386149"/>
            <a:ext cx="336590" cy="420767"/>
          </a:xfrm>
          <a:prstGeom prst="rect">
            <a:avLst/>
          </a:prstGeom>
          <a:noFill/>
          <a:ln/>
        </p:spPr>
        <p:txBody>
          <a:bodyPr wrap="none" lIns="0" tIns="0" rIns="0" bIns="0" rtlCol="0" anchor="t"/>
          <a:lstStyle/>
          <a:p>
            <a:pPr algn="ctr" indent="0" marL="0">
              <a:lnSpc>
                <a:spcPts val="4200"/>
              </a:lnSpc>
              <a:buNone/>
            </a:pPr>
            <a:r>
              <a:rPr lang="en-US" sz="2650" dirty="0">
                <a:solidFill>
                  <a:srgbClr val="F9EEE7"/>
                </a:solidFill>
                <a:latin typeface="Quattrocento" pitchFamily="34" charset="0"/>
                <a:ea typeface="Quattrocento" pitchFamily="34" charset="-122"/>
                <a:cs typeface="Quattrocento" pitchFamily="34" charset="-120"/>
              </a:rPr>
              <a:t>3</a:t>
            </a:r>
            <a:endParaRPr lang="en-US" sz="2650" dirty="0"/>
          </a:p>
        </p:txBody>
      </p:sp>
      <p:sp>
        <p:nvSpPr>
          <p:cNvPr id="14" name="Text 9"/>
          <p:cNvSpPr/>
          <p:nvPr/>
        </p:nvSpPr>
        <p:spPr>
          <a:xfrm>
            <a:off x="7522012" y="5420558"/>
            <a:ext cx="2267307"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Domain Expertise</a:t>
            </a:r>
            <a:endParaRPr lang="en-US" sz="2200" dirty="0"/>
          </a:p>
        </p:txBody>
      </p:sp>
      <p:sp>
        <p:nvSpPr>
          <p:cNvPr id="15" name="Text 10"/>
          <p:cNvSpPr/>
          <p:nvPr/>
        </p:nvSpPr>
        <p:spPr>
          <a:xfrm>
            <a:off x="837724" y="6281023"/>
            <a:ext cx="12954952" cy="1149072"/>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This fine-tuning is essential for achieving enhanced accuracy and domain expertise, setting our tool apart from generic AI solutions. By tailoring the models to the specific characteristics of legal texts, we provide legal professionals with insights they can trust.</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324124" y="1014293"/>
            <a:ext cx="7418665"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OCR for Scanned Documents</a:t>
            </a:r>
            <a:endParaRPr lang="en-US" sz="4400" dirty="0"/>
          </a:p>
        </p:txBody>
      </p:sp>
      <p:sp>
        <p:nvSpPr>
          <p:cNvPr id="4" name="Text 1"/>
          <p:cNvSpPr/>
          <p:nvPr/>
        </p:nvSpPr>
        <p:spPr>
          <a:xfrm>
            <a:off x="6324124" y="2077283"/>
            <a:ext cx="7468553" cy="1532096"/>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Our OCR (Optical Character Recognition) module is crucial for handling scanned documents, allowing our AI models to analyze information extracted from physical copies. This capability ensures that no document is beyond reach, regardless of its format.</a:t>
            </a:r>
            <a:endParaRPr lang="en-US" sz="1850" dirty="0"/>
          </a:p>
        </p:txBody>
      </p:sp>
      <p:sp>
        <p:nvSpPr>
          <p:cNvPr id="5" name="Shape 2"/>
          <p:cNvSpPr/>
          <p:nvPr/>
        </p:nvSpPr>
        <p:spPr>
          <a:xfrm>
            <a:off x="6324124" y="3878580"/>
            <a:ext cx="3614618" cy="1740218"/>
          </a:xfrm>
          <a:prstGeom prst="roundRect">
            <a:avLst>
              <a:gd name="adj" fmla="val 2063"/>
            </a:avLst>
          </a:prstGeom>
          <a:solidFill>
            <a:srgbClr val="315251"/>
          </a:solidFill>
          <a:ln/>
        </p:spPr>
      </p:sp>
      <p:sp>
        <p:nvSpPr>
          <p:cNvPr id="6" name="Text 3"/>
          <p:cNvSpPr/>
          <p:nvPr/>
        </p:nvSpPr>
        <p:spPr>
          <a:xfrm>
            <a:off x="6563439" y="4117896"/>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Text Conversion</a:t>
            </a:r>
            <a:endParaRPr lang="en-US" sz="2200" dirty="0"/>
          </a:p>
        </p:txBody>
      </p:sp>
      <p:sp>
        <p:nvSpPr>
          <p:cNvPr id="7" name="Text 4"/>
          <p:cNvSpPr/>
          <p:nvPr/>
        </p:nvSpPr>
        <p:spPr>
          <a:xfrm>
            <a:off x="6563439" y="4613434"/>
            <a:ext cx="3135987" cy="766048"/>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Accurately converts scanned images into editable text.</a:t>
            </a:r>
            <a:endParaRPr lang="en-US" sz="1850" dirty="0"/>
          </a:p>
        </p:txBody>
      </p:sp>
      <p:sp>
        <p:nvSpPr>
          <p:cNvPr id="8" name="Shape 5"/>
          <p:cNvSpPr/>
          <p:nvPr/>
        </p:nvSpPr>
        <p:spPr>
          <a:xfrm>
            <a:off x="10178058" y="3878580"/>
            <a:ext cx="3614618" cy="1740218"/>
          </a:xfrm>
          <a:prstGeom prst="roundRect">
            <a:avLst>
              <a:gd name="adj" fmla="val 2063"/>
            </a:avLst>
          </a:prstGeom>
          <a:solidFill>
            <a:srgbClr val="315251"/>
          </a:solidFill>
          <a:ln/>
        </p:spPr>
      </p:sp>
      <p:sp>
        <p:nvSpPr>
          <p:cNvPr id="9" name="Text 6"/>
          <p:cNvSpPr/>
          <p:nvPr/>
        </p:nvSpPr>
        <p:spPr>
          <a:xfrm>
            <a:off x="10417373" y="4117896"/>
            <a:ext cx="3116699"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Comprehensive Analysis</a:t>
            </a:r>
            <a:endParaRPr lang="en-US" sz="2200" dirty="0"/>
          </a:p>
        </p:txBody>
      </p:sp>
      <p:sp>
        <p:nvSpPr>
          <p:cNvPr id="10" name="Text 7"/>
          <p:cNvSpPr/>
          <p:nvPr/>
        </p:nvSpPr>
        <p:spPr>
          <a:xfrm>
            <a:off x="10417373" y="4613434"/>
            <a:ext cx="3135987" cy="766048"/>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Enables AI models to analyze scanned documents.</a:t>
            </a:r>
            <a:endParaRPr lang="en-US" sz="1850" dirty="0"/>
          </a:p>
        </p:txBody>
      </p:sp>
      <p:sp>
        <p:nvSpPr>
          <p:cNvPr id="11" name="Shape 8"/>
          <p:cNvSpPr/>
          <p:nvPr/>
        </p:nvSpPr>
        <p:spPr>
          <a:xfrm>
            <a:off x="6324124" y="5858113"/>
            <a:ext cx="7468553" cy="1357193"/>
          </a:xfrm>
          <a:prstGeom prst="roundRect">
            <a:avLst>
              <a:gd name="adj" fmla="val 2646"/>
            </a:avLst>
          </a:prstGeom>
          <a:solidFill>
            <a:srgbClr val="315251"/>
          </a:solidFill>
          <a:ln/>
        </p:spPr>
      </p:sp>
      <p:sp>
        <p:nvSpPr>
          <p:cNvPr id="12" name="Text 9"/>
          <p:cNvSpPr/>
          <p:nvPr/>
        </p:nvSpPr>
        <p:spPr>
          <a:xfrm>
            <a:off x="6563439" y="6097429"/>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Format Support</a:t>
            </a:r>
            <a:endParaRPr lang="en-US" sz="2200" dirty="0"/>
          </a:p>
        </p:txBody>
      </p:sp>
      <p:sp>
        <p:nvSpPr>
          <p:cNvPr id="13" name="Text 10"/>
          <p:cNvSpPr/>
          <p:nvPr/>
        </p:nvSpPr>
        <p:spPr>
          <a:xfrm>
            <a:off x="6563439" y="6592967"/>
            <a:ext cx="6989921" cy="383024"/>
          </a:xfrm>
          <a:prstGeom prst="rect">
            <a:avLst/>
          </a:prstGeom>
          <a:noFill/>
          <a:ln/>
        </p:spPr>
        <p:txBody>
          <a:bodyPr wrap="non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Supports various image formats and document layouts.</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63310" y="737235"/>
            <a:ext cx="5369243" cy="641509"/>
          </a:xfrm>
          <a:prstGeom prst="rect">
            <a:avLst/>
          </a:prstGeom>
          <a:noFill/>
          <a:ln/>
        </p:spPr>
        <p:txBody>
          <a:bodyPr wrap="none" lIns="0" tIns="0" rIns="0" bIns="0" rtlCol="0" anchor="t"/>
          <a:lstStyle/>
          <a:p>
            <a:pPr algn="l" indent="0" marL="0">
              <a:lnSpc>
                <a:spcPts val="5050"/>
              </a:lnSpc>
              <a:buNone/>
            </a:pPr>
            <a:r>
              <a:rPr lang="en-US" sz="4000" dirty="0">
                <a:solidFill>
                  <a:srgbClr val="FFD9BE"/>
                </a:solidFill>
                <a:latin typeface="Quattrocento" pitchFamily="34" charset="0"/>
                <a:ea typeface="Quattrocento" pitchFamily="34" charset="-122"/>
                <a:cs typeface="Quattrocento" pitchFamily="34" charset="-120"/>
              </a:rPr>
              <a:t>Interactive Streamlit UI</a:t>
            </a:r>
            <a:endParaRPr lang="en-US" sz="4000" dirty="0"/>
          </a:p>
        </p:txBody>
      </p:sp>
      <p:sp>
        <p:nvSpPr>
          <p:cNvPr id="4" name="Text 1"/>
          <p:cNvSpPr/>
          <p:nvPr/>
        </p:nvSpPr>
        <p:spPr>
          <a:xfrm>
            <a:off x="763310" y="1705808"/>
            <a:ext cx="7617381" cy="1046917"/>
          </a:xfrm>
          <a:prstGeom prst="rect">
            <a:avLst/>
          </a:prstGeom>
          <a:noFill/>
          <a:ln/>
        </p:spPr>
        <p:txBody>
          <a:bodyPr wrap="square" lIns="0" tIns="0" rIns="0" bIns="0" rtlCol="0" anchor="t"/>
          <a:lstStyle/>
          <a:p>
            <a:pPr algn="l" indent="0" marL="0">
              <a:lnSpc>
                <a:spcPts val="2700"/>
              </a:lnSpc>
              <a:buNone/>
            </a:pPr>
            <a:r>
              <a:rPr lang="en-US" sz="1700" dirty="0">
                <a:solidFill>
                  <a:srgbClr val="F9EEE7"/>
                </a:solidFill>
                <a:latin typeface="Quattrocento" pitchFamily="34" charset="0"/>
                <a:ea typeface="Quattrocento" pitchFamily="34" charset="-122"/>
                <a:cs typeface="Quattrocento" pitchFamily="34" charset="-120"/>
              </a:rPr>
              <a:t>Our Streamlit UI provides an intuitive platform for exploring and interacting with legal documents. Users can easily upload documents, view summaries, and examine identified entities, enhancing their understanding and analysis.</a:t>
            </a:r>
            <a:endParaRPr lang="en-US" sz="1700" dirty="0"/>
          </a:p>
        </p:txBody>
      </p:sp>
      <p:sp>
        <p:nvSpPr>
          <p:cNvPr id="5" name="Shape 2"/>
          <p:cNvSpPr/>
          <p:nvPr/>
        </p:nvSpPr>
        <p:spPr>
          <a:xfrm>
            <a:off x="1008578" y="2997994"/>
            <a:ext cx="30480" cy="4494371"/>
          </a:xfrm>
          <a:prstGeom prst="roundRect">
            <a:avLst>
              <a:gd name="adj" fmla="val 107342"/>
            </a:avLst>
          </a:prstGeom>
          <a:solidFill>
            <a:srgbClr val="4A6B6A"/>
          </a:solidFill>
          <a:ln/>
        </p:spPr>
      </p:sp>
      <p:sp>
        <p:nvSpPr>
          <p:cNvPr id="6" name="Shape 3"/>
          <p:cNvSpPr/>
          <p:nvPr/>
        </p:nvSpPr>
        <p:spPr>
          <a:xfrm>
            <a:off x="1223427" y="3473291"/>
            <a:ext cx="654248" cy="30480"/>
          </a:xfrm>
          <a:prstGeom prst="roundRect">
            <a:avLst>
              <a:gd name="adj" fmla="val 107342"/>
            </a:avLst>
          </a:prstGeom>
          <a:solidFill>
            <a:srgbClr val="4A6B6A"/>
          </a:solidFill>
          <a:ln/>
        </p:spPr>
      </p:sp>
      <p:sp>
        <p:nvSpPr>
          <p:cNvPr id="7" name="Shape 4"/>
          <p:cNvSpPr/>
          <p:nvPr/>
        </p:nvSpPr>
        <p:spPr>
          <a:xfrm>
            <a:off x="763250" y="3243263"/>
            <a:ext cx="490657" cy="490657"/>
          </a:xfrm>
          <a:prstGeom prst="roundRect">
            <a:avLst>
              <a:gd name="adj" fmla="val 6668"/>
            </a:avLst>
          </a:prstGeom>
          <a:solidFill>
            <a:srgbClr val="315251"/>
          </a:solidFill>
          <a:ln/>
        </p:spPr>
      </p:sp>
      <p:sp>
        <p:nvSpPr>
          <p:cNvPr id="8" name="Text 5"/>
          <p:cNvSpPr/>
          <p:nvPr/>
        </p:nvSpPr>
        <p:spPr>
          <a:xfrm>
            <a:off x="854571" y="3296126"/>
            <a:ext cx="307896" cy="384810"/>
          </a:xfrm>
          <a:prstGeom prst="rect">
            <a:avLst/>
          </a:prstGeom>
          <a:noFill/>
          <a:ln/>
        </p:spPr>
        <p:txBody>
          <a:bodyPr wrap="none" lIns="0" tIns="0" rIns="0" bIns="0" rtlCol="0" anchor="t"/>
          <a:lstStyle/>
          <a:p>
            <a:pPr algn="ctr" indent="0" marL="0">
              <a:lnSpc>
                <a:spcPts val="2400"/>
              </a:lnSpc>
              <a:buNone/>
            </a:pPr>
            <a:r>
              <a:rPr lang="en-US" sz="2400" dirty="0">
                <a:solidFill>
                  <a:srgbClr val="F9EEE7"/>
                </a:solidFill>
                <a:latin typeface="Quattrocento" pitchFamily="34" charset="0"/>
                <a:ea typeface="Quattrocento" pitchFamily="34" charset="-122"/>
                <a:cs typeface="Quattrocento" pitchFamily="34" charset="-120"/>
              </a:rPr>
              <a:t>1</a:t>
            </a:r>
            <a:endParaRPr lang="en-US" sz="2400" dirty="0"/>
          </a:p>
        </p:txBody>
      </p:sp>
      <p:sp>
        <p:nvSpPr>
          <p:cNvPr id="9" name="Text 6"/>
          <p:cNvSpPr/>
          <p:nvPr/>
        </p:nvSpPr>
        <p:spPr>
          <a:xfrm>
            <a:off x="2099191" y="3215997"/>
            <a:ext cx="2566035" cy="320635"/>
          </a:xfrm>
          <a:prstGeom prst="rect">
            <a:avLst/>
          </a:prstGeom>
          <a:noFill/>
          <a:ln/>
        </p:spPr>
        <p:txBody>
          <a:bodyPr wrap="none" lIns="0" tIns="0" rIns="0" bIns="0" rtlCol="0" anchor="t"/>
          <a:lstStyle/>
          <a:p>
            <a:pPr algn="l" indent="0" marL="0">
              <a:lnSpc>
                <a:spcPts val="2500"/>
              </a:lnSpc>
              <a:buNone/>
            </a:pPr>
            <a:r>
              <a:rPr lang="en-US" sz="2000" dirty="0">
                <a:solidFill>
                  <a:srgbClr val="F9EEE7"/>
                </a:solidFill>
                <a:latin typeface="Quattrocento" pitchFamily="34" charset="0"/>
                <a:ea typeface="Quattrocento" pitchFamily="34" charset="-122"/>
                <a:cs typeface="Quattrocento" pitchFamily="34" charset="-120"/>
              </a:rPr>
              <a:t>Document Upload</a:t>
            </a:r>
            <a:endParaRPr lang="en-US" sz="2000" dirty="0"/>
          </a:p>
        </p:txBody>
      </p:sp>
      <p:sp>
        <p:nvSpPr>
          <p:cNvPr id="10" name="Text 7"/>
          <p:cNvSpPr/>
          <p:nvPr/>
        </p:nvSpPr>
        <p:spPr>
          <a:xfrm>
            <a:off x="2099191" y="3667482"/>
            <a:ext cx="6281499" cy="348972"/>
          </a:xfrm>
          <a:prstGeom prst="rect">
            <a:avLst/>
          </a:prstGeom>
          <a:noFill/>
          <a:ln/>
        </p:spPr>
        <p:txBody>
          <a:bodyPr wrap="none" lIns="0" tIns="0" rIns="0" bIns="0" rtlCol="0" anchor="t"/>
          <a:lstStyle/>
          <a:p>
            <a:pPr algn="l" indent="0" marL="0">
              <a:lnSpc>
                <a:spcPts val="2700"/>
              </a:lnSpc>
              <a:buNone/>
            </a:pPr>
            <a:r>
              <a:rPr lang="en-US" sz="1700" dirty="0">
                <a:solidFill>
                  <a:srgbClr val="F9EEE7"/>
                </a:solidFill>
                <a:latin typeface="Quattrocento" pitchFamily="34" charset="0"/>
                <a:ea typeface="Quattrocento" pitchFamily="34" charset="-122"/>
                <a:cs typeface="Quattrocento" pitchFamily="34" charset="-120"/>
              </a:rPr>
              <a:t>Upload legal documents directly into the UI.</a:t>
            </a:r>
            <a:endParaRPr lang="en-US" sz="1700" dirty="0"/>
          </a:p>
        </p:txBody>
      </p:sp>
      <p:sp>
        <p:nvSpPr>
          <p:cNvPr id="11" name="Shape 8"/>
          <p:cNvSpPr/>
          <p:nvPr/>
        </p:nvSpPr>
        <p:spPr>
          <a:xfrm>
            <a:off x="1223427" y="4927759"/>
            <a:ext cx="654248" cy="30480"/>
          </a:xfrm>
          <a:prstGeom prst="roundRect">
            <a:avLst>
              <a:gd name="adj" fmla="val 107342"/>
            </a:avLst>
          </a:prstGeom>
          <a:solidFill>
            <a:srgbClr val="4A6B6A"/>
          </a:solidFill>
          <a:ln/>
        </p:spPr>
      </p:sp>
      <p:sp>
        <p:nvSpPr>
          <p:cNvPr id="12" name="Shape 9"/>
          <p:cNvSpPr/>
          <p:nvPr/>
        </p:nvSpPr>
        <p:spPr>
          <a:xfrm>
            <a:off x="763250" y="4697730"/>
            <a:ext cx="490657" cy="490657"/>
          </a:xfrm>
          <a:prstGeom prst="roundRect">
            <a:avLst>
              <a:gd name="adj" fmla="val 6668"/>
            </a:avLst>
          </a:prstGeom>
          <a:solidFill>
            <a:srgbClr val="315251"/>
          </a:solidFill>
          <a:ln/>
        </p:spPr>
      </p:sp>
      <p:sp>
        <p:nvSpPr>
          <p:cNvPr id="13" name="Text 10"/>
          <p:cNvSpPr/>
          <p:nvPr/>
        </p:nvSpPr>
        <p:spPr>
          <a:xfrm>
            <a:off x="854571" y="4750594"/>
            <a:ext cx="307896" cy="384810"/>
          </a:xfrm>
          <a:prstGeom prst="rect">
            <a:avLst/>
          </a:prstGeom>
          <a:noFill/>
          <a:ln/>
        </p:spPr>
        <p:txBody>
          <a:bodyPr wrap="none" lIns="0" tIns="0" rIns="0" bIns="0" rtlCol="0" anchor="t"/>
          <a:lstStyle/>
          <a:p>
            <a:pPr algn="ctr" indent="0" marL="0">
              <a:lnSpc>
                <a:spcPts val="2400"/>
              </a:lnSpc>
              <a:buNone/>
            </a:pPr>
            <a:r>
              <a:rPr lang="en-US" sz="2400" dirty="0">
                <a:solidFill>
                  <a:srgbClr val="F9EEE7"/>
                </a:solidFill>
                <a:latin typeface="Quattrocento" pitchFamily="34" charset="0"/>
                <a:ea typeface="Quattrocento" pitchFamily="34" charset="-122"/>
                <a:cs typeface="Quattrocento" pitchFamily="34" charset="-120"/>
              </a:rPr>
              <a:t>2</a:t>
            </a:r>
            <a:endParaRPr lang="en-US" sz="2400" dirty="0"/>
          </a:p>
        </p:txBody>
      </p:sp>
      <p:sp>
        <p:nvSpPr>
          <p:cNvPr id="14" name="Text 11"/>
          <p:cNvSpPr/>
          <p:nvPr/>
        </p:nvSpPr>
        <p:spPr>
          <a:xfrm>
            <a:off x="2099191" y="4670465"/>
            <a:ext cx="2566035" cy="320635"/>
          </a:xfrm>
          <a:prstGeom prst="rect">
            <a:avLst/>
          </a:prstGeom>
          <a:noFill/>
          <a:ln/>
        </p:spPr>
        <p:txBody>
          <a:bodyPr wrap="none" lIns="0" tIns="0" rIns="0" bIns="0" rtlCol="0" anchor="t"/>
          <a:lstStyle/>
          <a:p>
            <a:pPr algn="l" indent="0" marL="0">
              <a:lnSpc>
                <a:spcPts val="2500"/>
              </a:lnSpc>
              <a:buNone/>
            </a:pPr>
            <a:r>
              <a:rPr lang="en-US" sz="2000" dirty="0">
                <a:solidFill>
                  <a:srgbClr val="F9EEE7"/>
                </a:solidFill>
                <a:latin typeface="Quattrocento" pitchFamily="34" charset="0"/>
                <a:ea typeface="Quattrocento" pitchFamily="34" charset="-122"/>
                <a:cs typeface="Quattrocento" pitchFamily="34" charset="-120"/>
              </a:rPr>
              <a:t>Summary Review</a:t>
            </a:r>
            <a:endParaRPr lang="en-US" sz="2000" dirty="0"/>
          </a:p>
        </p:txBody>
      </p:sp>
      <p:sp>
        <p:nvSpPr>
          <p:cNvPr id="15" name="Text 12"/>
          <p:cNvSpPr/>
          <p:nvPr/>
        </p:nvSpPr>
        <p:spPr>
          <a:xfrm>
            <a:off x="2099191" y="5121950"/>
            <a:ext cx="6281499" cy="348972"/>
          </a:xfrm>
          <a:prstGeom prst="rect">
            <a:avLst/>
          </a:prstGeom>
          <a:noFill/>
          <a:ln/>
        </p:spPr>
        <p:txBody>
          <a:bodyPr wrap="none" lIns="0" tIns="0" rIns="0" bIns="0" rtlCol="0" anchor="t"/>
          <a:lstStyle/>
          <a:p>
            <a:pPr algn="l" indent="0" marL="0">
              <a:lnSpc>
                <a:spcPts val="2700"/>
              </a:lnSpc>
              <a:buNone/>
            </a:pPr>
            <a:r>
              <a:rPr lang="en-US" sz="1700" dirty="0">
                <a:solidFill>
                  <a:srgbClr val="F9EEE7"/>
                </a:solidFill>
                <a:latin typeface="Quattrocento" pitchFamily="34" charset="0"/>
                <a:ea typeface="Quattrocento" pitchFamily="34" charset="-122"/>
                <a:cs typeface="Quattrocento" pitchFamily="34" charset="-120"/>
              </a:rPr>
              <a:t>Quickly grasp the key points with AI-generated summaries.</a:t>
            </a:r>
            <a:endParaRPr lang="en-US" sz="1700" dirty="0"/>
          </a:p>
        </p:txBody>
      </p:sp>
      <p:sp>
        <p:nvSpPr>
          <p:cNvPr id="16" name="Shape 13"/>
          <p:cNvSpPr/>
          <p:nvPr/>
        </p:nvSpPr>
        <p:spPr>
          <a:xfrm>
            <a:off x="1223427" y="6382226"/>
            <a:ext cx="654248" cy="30480"/>
          </a:xfrm>
          <a:prstGeom prst="roundRect">
            <a:avLst>
              <a:gd name="adj" fmla="val 107342"/>
            </a:avLst>
          </a:prstGeom>
          <a:solidFill>
            <a:srgbClr val="4A6B6A"/>
          </a:solidFill>
          <a:ln/>
        </p:spPr>
      </p:sp>
      <p:sp>
        <p:nvSpPr>
          <p:cNvPr id="17" name="Shape 14"/>
          <p:cNvSpPr/>
          <p:nvPr/>
        </p:nvSpPr>
        <p:spPr>
          <a:xfrm>
            <a:off x="763250" y="6152198"/>
            <a:ext cx="490657" cy="490657"/>
          </a:xfrm>
          <a:prstGeom prst="roundRect">
            <a:avLst>
              <a:gd name="adj" fmla="val 6668"/>
            </a:avLst>
          </a:prstGeom>
          <a:solidFill>
            <a:srgbClr val="315251"/>
          </a:solidFill>
          <a:ln/>
        </p:spPr>
      </p:sp>
      <p:sp>
        <p:nvSpPr>
          <p:cNvPr id="18" name="Text 15"/>
          <p:cNvSpPr/>
          <p:nvPr/>
        </p:nvSpPr>
        <p:spPr>
          <a:xfrm>
            <a:off x="854571" y="6205061"/>
            <a:ext cx="307896" cy="384810"/>
          </a:xfrm>
          <a:prstGeom prst="rect">
            <a:avLst/>
          </a:prstGeom>
          <a:noFill/>
          <a:ln/>
        </p:spPr>
        <p:txBody>
          <a:bodyPr wrap="none" lIns="0" tIns="0" rIns="0" bIns="0" rtlCol="0" anchor="t"/>
          <a:lstStyle/>
          <a:p>
            <a:pPr algn="ctr" indent="0" marL="0">
              <a:lnSpc>
                <a:spcPts val="2400"/>
              </a:lnSpc>
              <a:buNone/>
            </a:pPr>
            <a:r>
              <a:rPr lang="en-US" sz="2400" dirty="0">
                <a:solidFill>
                  <a:srgbClr val="F9EEE7"/>
                </a:solidFill>
                <a:latin typeface="Quattrocento" pitchFamily="34" charset="0"/>
                <a:ea typeface="Quattrocento" pitchFamily="34" charset="-122"/>
                <a:cs typeface="Quattrocento" pitchFamily="34" charset="-120"/>
              </a:rPr>
              <a:t>3</a:t>
            </a:r>
            <a:endParaRPr lang="en-US" sz="2400" dirty="0"/>
          </a:p>
        </p:txBody>
      </p:sp>
      <p:sp>
        <p:nvSpPr>
          <p:cNvPr id="19" name="Text 16"/>
          <p:cNvSpPr/>
          <p:nvPr/>
        </p:nvSpPr>
        <p:spPr>
          <a:xfrm>
            <a:off x="2099191" y="6124932"/>
            <a:ext cx="2566035" cy="320635"/>
          </a:xfrm>
          <a:prstGeom prst="rect">
            <a:avLst/>
          </a:prstGeom>
          <a:noFill/>
          <a:ln/>
        </p:spPr>
        <p:txBody>
          <a:bodyPr wrap="none" lIns="0" tIns="0" rIns="0" bIns="0" rtlCol="0" anchor="t"/>
          <a:lstStyle/>
          <a:p>
            <a:pPr algn="l" indent="0" marL="0">
              <a:lnSpc>
                <a:spcPts val="2500"/>
              </a:lnSpc>
              <a:buNone/>
            </a:pPr>
            <a:r>
              <a:rPr lang="en-US" sz="2000" dirty="0">
                <a:solidFill>
                  <a:srgbClr val="F9EEE7"/>
                </a:solidFill>
                <a:latin typeface="Quattrocento" pitchFamily="34" charset="0"/>
                <a:ea typeface="Quattrocento" pitchFamily="34" charset="-122"/>
                <a:cs typeface="Quattrocento" pitchFamily="34" charset="-120"/>
              </a:rPr>
              <a:t>Entity Exploration</a:t>
            </a:r>
            <a:endParaRPr lang="en-US" sz="2000" dirty="0"/>
          </a:p>
        </p:txBody>
      </p:sp>
      <p:sp>
        <p:nvSpPr>
          <p:cNvPr id="20" name="Text 17"/>
          <p:cNvSpPr/>
          <p:nvPr/>
        </p:nvSpPr>
        <p:spPr>
          <a:xfrm>
            <a:off x="2099191" y="6576417"/>
            <a:ext cx="6281499" cy="697944"/>
          </a:xfrm>
          <a:prstGeom prst="rect">
            <a:avLst/>
          </a:prstGeom>
          <a:noFill/>
          <a:ln/>
        </p:spPr>
        <p:txBody>
          <a:bodyPr wrap="square" lIns="0" tIns="0" rIns="0" bIns="0" rtlCol="0" anchor="t"/>
          <a:lstStyle/>
          <a:p>
            <a:pPr algn="l" indent="0" marL="0">
              <a:lnSpc>
                <a:spcPts val="2700"/>
              </a:lnSpc>
              <a:buNone/>
            </a:pPr>
            <a:r>
              <a:rPr lang="en-US" sz="1700" dirty="0">
                <a:solidFill>
                  <a:srgbClr val="F9EEE7"/>
                </a:solidFill>
                <a:latin typeface="Quattrocento" pitchFamily="34" charset="0"/>
                <a:ea typeface="Quattrocento" pitchFamily="34" charset="-122"/>
                <a:cs typeface="Quattrocento" pitchFamily="34" charset="-120"/>
              </a:rPr>
              <a:t>Examine identified entities and their context within the document.</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840700"/>
            <a:ext cx="5632490"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Key Takeaways</a:t>
            </a:r>
            <a:endParaRPr lang="en-US" sz="4400" dirty="0"/>
          </a:p>
        </p:txBody>
      </p:sp>
      <p:sp>
        <p:nvSpPr>
          <p:cNvPr id="4" name="Text 1"/>
          <p:cNvSpPr/>
          <p:nvPr/>
        </p:nvSpPr>
        <p:spPr>
          <a:xfrm>
            <a:off x="837724" y="1903690"/>
            <a:ext cx="7468553" cy="2298144"/>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In summary, our Legal Document Analysis tool offers a transformative solution for legal professionals, streamlining the analysis of legal documents and providing actionable insights. It helps legal teams to drastically reduce the time spent on manual reviews, minimize errors, and make informed decisions with greater confidence. Contact us to see a demo.</a:t>
            </a:r>
            <a:endParaRPr lang="en-US" sz="1850" dirty="0"/>
          </a:p>
        </p:txBody>
      </p:sp>
      <p:sp>
        <p:nvSpPr>
          <p:cNvPr id="5" name="Shape 2"/>
          <p:cNvSpPr/>
          <p:nvPr/>
        </p:nvSpPr>
        <p:spPr>
          <a:xfrm>
            <a:off x="837724" y="4740235"/>
            <a:ext cx="538520" cy="538520"/>
          </a:xfrm>
          <a:prstGeom prst="roundRect">
            <a:avLst>
              <a:gd name="adj" fmla="val 6668"/>
            </a:avLst>
          </a:prstGeom>
          <a:solidFill>
            <a:srgbClr val="315251"/>
          </a:solidFill>
          <a:ln/>
        </p:spPr>
      </p:sp>
      <p:sp>
        <p:nvSpPr>
          <p:cNvPr id="6" name="Text 3"/>
          <p:cNvSpPr/>
          <p:nvPr/>
        </p:nvSpPr>
        <p:spPr>
          <a:xfrm>
            <a:off x="1615559" y="4740235"/>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AI-Powered Analysis</a:t>
            </a:r>
            <a:endParaRPr lang="en-US" sz="2200" dirty="0"/>
          </a:p>
        </p:txBody>
      </p:sp>
      <p:sp>
        <p:nvSpPr>
          <p:cNvPr id="7" name="Text 4"/>
          <p:cNvSpPr/>
          <p:nvPr/>
        </p:nvSpPr>
        <p:spPr>
          <a:xfrm>
            <a:off x="1615559" y="5235773"/>
            <a:ext cx="2836783" cy="766048"/>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Leverage AI to streamline legal document review.</a:t>
            </a:r>
            <a:endParaRPr lang="en-US" sz="1850" dirty="0"/>
          </a:p>
        </p:txBody>
      </p:sp>
      <p:sp>
        <p:nvSpPr>
          <p:cNvPr id="8" name="Shape 5"/>
          <p:cNvSpPr/>
          <p:nvPr/>
        </p:nvSpPr>
        <p:spPr>
          <a:xfrm>
            <a:off x="4691658" y="4740235"/>
            <a:ext cx="538520" cy="538520"/>
          </a:xfrm>
          <a:prstGeom prst="roundRect">
            <a:avLst>
              <a:gd name="adj" fmla="val 6668"/>
            </a:avLst>
          </a:prstGeom>
          <a:solidFill>
            <a:srgbClr val="315251"/>
          </a:solidFill>
          <a:ln/>
        </p:spPr>
      </p:sp>
      <p:sp>
        <p:nvSpPr>
          <p:cNvPr id="9" name="Text 6"/>
          <p:cNvSpPr/>
          <p:nvPr/>
        </p:nvSpPr>
        <p:spPr>
          <a:xfrm>
            <a:off x="5469493" y="4740235"/>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Key Insights</a:t>
            </a:r>
            <a:endParaRPr lang="en-US" sz="2200" dirty="0"/>
          </a:p>
        </p:txBody>
      </p:sp>
      <p:sp>
        <p:nvSpPr>
          <p:cNvPr id="10" name="Text 7"/>
          <p:cNvSpPr/>
          <p:nvPr/>
        </p:nvSpPr>
        <p:spPr>
          <a:xfrm>
            <a:off x="5469493" y="5235773"/>
            <a:ext cx="2836783" cy="766048"/>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Extract summaries and entities with precision.</a:t>
            </a:r>
            <a:endParaRPr lang="en-US" sz="1850" dirty="0"/>
          </a:p>
        </p:txBody>
      </p:sp>
      <p:sp>
        <p:nvSpPr>
          <p:cNvPr id="11" name="Shape 8"/>
          <p:cNvSpPr/>
          <p:nvPr/>
        </p:nvSpPr>
        <p:spPr>
          <a:xfrm>
            <a:off x="837724" y="6510338"/>
            <a:ext cx="538520" cy="538520"/>
          </a:xfrm>
          <a:prstGeom prst="roundRect">
            <a:avLst>
              <a:gd name="adj" fmla="val 6668"/>
            </a:avLst>
          </a:prstGeom>
          <a:solidFill>
            <a:srgbClr val="315251"/>
          </a:solidFill>
          <a:ln/>
        </p:spPr>
      </p:sp>
      <p:sp>
        <p:nvSpPr>
          <p:cNvPr id="12" name="Text 9"/>
          <p:cNvSpPr/>
          <p:nvPr/>
        </p:nvSpPr>
        <p:spPr>
          <a:xfrm>
            <a:off x="1615559" y="6510338"/>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Increased Efficiency</a:t>
            </a:r>
            <a:endParaRPr lang="en-US" sz="2200" dirty="0"/>
          </a:p>
        </p:txBody>
      </p:sp>
      <p:sp>
        <p:nvSpPr>
          <p:cNvPr id="13" name="Text 10"/>
          <p:cNvSpPr/>
          <p:nvPr/>
        </p:nvSpPr>
        <p:spPr>
          <a:xfrm>
            <a:off x="1615559" y="7005876"/>
            <a:ext cx="6690717" cy="383024"/>
          </a:xfrm>
          <a:prstGeom prst="rect">
            <a:avLst/>
          </a:prstGeom>
          <a:noFill/>
          <a:ln/>
        </p:spPr>
        <p:txBody>
          <a:bodyPr wrap="non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Save time and resources with automated analysis.</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7724" y="2374940"/>
            <a:ext cx="7715369"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Model Fine-Tuning Notebooks</a:t>
            </a:r>
            <a:endParaRPr lang="en-US" sz="4400" dirty="0"/>
          </a:p>
        </p:txBody>
      </p:sp>
      <p:sp>
        <p:nvSpPr>
          <p:cNvPr id="3" name="Shape 1"/>
          <p:cNvSpPr/>
          <p:nvPr/>
        </p:nvSpPr>
        <p:spPr>
          <a:xfrm>
            <a:off x="837724" y="3826907"/>
            <a:ext cx="538520" cy="538520"/>
          </a:xfrm>
          <a:prstGeom prst="roundRect">
            <a:avLst>
              <a:gd name="adj" fmla="val 6668"/>
            </a:avLst>
          </a:prstGeom>
          <a:solidFill>
            <a:srgbClr val="315251"/>
          </a:solidFill>
          <a:ln/>
        </p:spPr>
      </p:sp>
      <p:sp>
        <p:nvSpPr>
          <p:cNvPr id="4" name="Text 2"/>
          <p:cNvSpPr/>
          <p:nvPr/>
        </p:nvSpPr>
        <p:spPr>
          <a:xfrm>
            <a:off x="937974" y="3884890"/>
            <a:ext cx="337899" cy="422434"/>
          </a:xfrm>
          <a:prstGeom prst="rect">
            <a:avLst/>
          </a:prstGeom>
          <a:noFill/>
          <a:ln/>
        </p:spPr>
        <p:txBody>
          <a:bodyPr wrap="none" lIns="0" tIns="0" rIns="0" bIns="0" rtlCol="0" anchor="t"/>
          <a:lstStyle/>
          <a:p>
            <a:pPr algn="ctr" indent="0" marL="0">
              <a:lnSpc>
                <a:spcPts val="2650"/>
              </a:lnSpc>
              <a:buNone/>
            </a:pPr>
            <a:r>
              <a:rPr lang="en-US" sz="2650" dirty="0">
                <a:solidFill>
                  <a:srgbClr val="F9EEE7"/>
                </a:solidFill>
                <a:latin typeface="Quattrocento" pitchFamily="34" charset="0"/>
                <a:ea typeface="Quattrocento" pitchFamily="34" charset="-122"/>
                <a:cs typeface="Quattrocento" pitchFamily="34" charset="-120"/>
              </a:rPr>
              <a:t>1</a:t>
            </a:r>
            <a:endParaRPr lang="en-US" sz="2650" dirty="0"/>
          </a:p>
        </p:txBody>
      </p:sp>
      <p:sp>
        <p:nvSpPr>
          <p:cNvPr id="5" name="Text 3"/>
          <p:cNvSpPr/>
          <p:nvPr/>
        </p:nvSpPr>
        <p:spPr>
          <a:xfrm>
            <a:off x="1615559" y="3826907"/>
            <a:ext cx="2816185" cy="351949"/>
          </a:xfrm>
          <a:prstGeom prst="rect">
            <a:avLst/>
          </a:prstGeom>
          <a:noFill/>
          <a:ln/>
        </p:spPr>
        <p:txBody>
          <a:bodyPr wrap="none" lIns="0" tIns="0" rIns="0" bIns="0" rtlCol="0" anchor="t"/>
          <a:lstStyle/>
          <a:p>
            <a:pPr algn="l" indent="0" marL="0">
              <a:lnSpc>
                <a:spcPts val="2750"/>
              </a:lnSpc>
              <a:buNone/>
            </a:pPr>
            <a:r>
              <a:rPr lang="en-US" sz="2200" b="1" dirty="0">
                <a:solidFill>
                  <a:srgbClr val="F9EEE7"/>
                </a:solidFill>
                <a:latin typeface="Quattrocento" pitchFamily="34" charset="0"/>
                <a:ea typeface="Quattrocento" pitchFamily="34" charset="-122"/>
                <a:cs typeface="Quattrocento" pitchFamily="34" charset="-120"/>
              </a:rPr>
              <a:t>Entity Extraction:</a:t>
            </a:r>
            <a:endParaRPr lang="en-US" sz="2200" dirty="0"/>
          </a:p>
        </p:txBody>
      </p:sp>
      <p:sp>
        <p:nvSpPr>
          <p:cNvPr id="6" name="Text 4"/>
          <p:cNvSpPr/>
          <p:nvPr/>
        </p:nvSpPr>
        <p:spPr>
          <a:xfrm>
            <a:off x="1615559" y="4322445"/>
            <a:ext cx="3380899" cy="1532096"/>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Customize and train your own Named Entity Recognition models using BERT and PyTorch.</a:t>
            </a:r>
            <a:endParaRPr lang="en-US" sz="1850" dirty="0"/>
          </a:p>
        </p:txBody>
      </p:sp>
      <p:sp>
        <p:nvSpPr>
          <p:cNvPr id="7" name="Shape 5"/>
          <p:cNvSpPr/>
          <p:nvPr/>
        </p:nvSpPr>
        <p:spPr>
          <a:xfrm>
            <a:off x="5235773" y="3826907"/>
            <a:ext cx="538520" cy="538520"/>
          </a:xfrm>
          <a:prstGeom prst="roundRect">
            <a:avLst>
              <a:gd name="adj" fmla="val 6668"/>
            </a:avLst>
          </a:prstGeom>
          <a:solidFill>
            <a:srgbClr val="315251"/>
          </a:solidFill>
          <a:ln/>
        </p:spPr>
      </p:sp>
      <p:sp>
        <p:nvSpPr>
          <p:cNvPr id="8" name="Text 6"/>
          <p:cNvSpPr/>
          <p:nvPr/>
        </p:nvSpPr>
        <p:spPr>
          <a:xfrm>
            <a:off x="5336024" y="3884890"/>
            <a:ext cx="337899" cy="422434"/>
          </a:xfrm>
          <a:prstGeom prst="rect">
            <a:avLst/>
          </a:prstGeom>
          <a:noFill/>
          <a:ln/>
        </p:spPr>
        <p:txBody>
          <a:bodyPr wrap="none" lIns="0" tIns="0" rIns="0" bIns="0" rtlCol="0" anchor="t"/>
          <a:lstStyle/>
          <a:p>
            <a:pPr algn="ctr" indent="0" marL="0">
              <a:lnSpc>
                <a:spcPts val="2650"/>
              </a:lnSpc>
              <a:buNone/>
            </a:pPr>
            <a:r>
              <a:rPr lang="en-US" sz="2650" dirty="0">
                <a:solidFill>
                  <a:srgbClr val="F9EEE7"/>
                </a:solidFill>
                <a:latin typeface="Quattrocento" pitchFamily="34" charset="0"/>
                <a:ea typeface="Quattrocento" pitchFamily="34" charset="-122"/>
                <a:cs typeface="Quattrocento" pitchFamily="34" charset="-120"/>
              </a:rPr>
              <a:t>2</a:t>
            </a:r>
            <a:endParaRPr lang="en-US" sz="2650" dirty="0"/>
          </a:p>
        </p:txBody>
      </p:sp>
      <p:sp>
        <p:nvSpPr>
          <p:cNvPr id="9" name="Text 7"/>
          <p:cNvSpPr/>
          <p:nvPr/>
        </p:nvSpPr>
        <p:spPr>
          <a:xfrm>
            <a:off x="6013609" y="3826907"/>
            <a:ext cx="2816185" cy="351949"/>
          </a:xfrm>
          <a:prstGeom prst="rect">
            <a:avLst/>
          </a:prstGeom>
          <a:noFill/>
          <a:ln/>
        </p:spPr>
        <p:txBody>
          <a:bodyPr wrap="none" lIns="0" tIns="0" rIns="0" bIns="0" rtlCol="0" anchor="t"/>
          <a:lstStyle/>
          <a:p>
            <a:pPr algn="l" indent="0" marL="0">
              <a:lnSpc>
                <a:spcPts val="2750"/>
              </a:lnSpc>
              <a:buNone/>
            </a:pPr>
            <a:r>
              <a:rPr lang="en-US" sz="2200" b="1" dirty="0">
                <a:solidFill>
                  <a:srgbClr val="F9EEE7"/>
                </a:solidFill>
                <a:latin typeface="Quattrocento" pitchFamily="34" charset="0"/>
                <a:ea typeface="Quattrocento" pitchFamily="34" charset="-122"/>
                <a:cs typeface="Quattrocento" pitchFamily="34" charset="-120"/>
              </a:rPr>
              <a:t>Summarization:</a:t>
            </a:r>
            <a:endParaRPr lang="en-US" sz="2200" dirty="0"/>
          </a:p>
        </p:txBody>
      </p:sp>
      <p:sp>
        <p:nvSpPr>
          <p:cNvPr id="10" name="Text 8"/>
          <p:cNvSpPr/>
          <p:nvPr/>
        </p:nvSpPr>
        <p:spPr>
          <a:xfrm>
            <a:off x="6013609" y="4322445"/>
            <a:ext cx="3380899" cy="766048"/>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Use the FlanT5 model to create summaries of legal documents.</a:t>
            </a:r>
            <a:endParaRPr lang="en-US" sz="1850" dirty="0"/>
          </a:p>
        </p:txBody>
      </p:sp>
      <p:sp>
        <p:nvSpPr>
          <p:cNvPr id="11" name="Shape 9"/>
          <p:cNvSpPr/>
          <p:nvPr/>
        </p:nvSpPr>
        <p:spPr>
          <a:xfrm>
            <a:off x="9633823" y="3826907"/>
            <a:ext cx="538520" cy="538520"/>
          </a:xfrm>
          <a:prstGeom prst="roundRect">
            <a:avLst>
              <a:gd name="adj" fmla="val 6668"/>
            </a:avLst>
          </a:prstGeom>
          <a:solidFill>
            <a:srgbClr val="315251"/>
          </a:solidFill>
          <a:ln/>
        </p:spPr>
      </p:sp>
      <p:sp>
        <p:nvSpPr>
          <p:cNvPr id="12" name="Text 10"/>
          <p:cNvSpPr/>
          <p:nvPr/>
        </p:nvSpPr>
        <p:spPr>
          <a:xfrm>
            <a:off x="9734074" y="3884890"/>
            <a:ext cx="337899" cy="422434"/>
          </a:xfrm>
          <a:prstGeom prst="rect">
            <a:avLst/>
          </a:prstGeom>
          <a:noFill/>
          <a:ln/>
        </p:spPr>
        <p:txBody>
          <a:bodyPr wrap="none" lIns="0" tIns="0" rIns="0" bIns="0" rtlCol="0" anchor="t"/>
          <a:lstStyle/>
          <a:p>
            <a:pPr algn="ctr" indent="0" marL="0">
              <a:lnSpc>
                <a:spcPts val="2650"/>
              </a:lnSpc>
              <a:buNone/>
            </a:pPr>
            <a:r>
              <a:rPr lang="en-US" sz="2650" dirty="0">
                <a:solidFill>
                  <a:srgbClr val="F9EEE7"/>
                </a:solidFill>
                <a:latin typeface="Quattrocento" pitchFamily="34" charset="0"/>
                <a:ea typeface="Quattrocento" pitchFamily="34" charset="-122"/>
                <a:cs typeface="Quattrocento" pitchFamily="34" charset="-120"/>
              </a:rPr>
              <a:t>3</a:t>
            </a:r>
            <a:endParaRPr lang="en-US" sz="2650" dirty="0"/>
          </a:p>
        </p:txBody>
      </p:sp>
      <p:sp>
        <p:nvSpPr>
          <p:cNvPr id="13" name="Text 11"/>
          <p:cNvSpPr/>
          <p:nvPr/>
        </p:nvSpPr>
        <p:spPr>
          <a:xfrm>
            <a:off x="10411658" y="3826907"/>
            <a:ext cx="2854047" cy="351949"/>
          </a:xfrm>
          <a:prstGeom prst="rect">
            <a:avLst/>
          </a:prstGeom>
          <a:noFill/>
          <a:ln/>
        </p:spPr>
        <p:txBody>
          <a:bodyPr wrap="none" lIns="0" tIns="0" rIns="0" bIns="0" rtlCol="0" anchor="t"/>
          <a:lstStyle/>
          <a:p>
            <a:pPr algn="l" indent="0" marL="0">
              <a:lnSpc>
                <a:spcPts val="2750"/>
              </a:lnSpc>
              <a:buNone/>
            </a:pPr>
            <a:r>
              <a:rPr lang="en-US" sz="2200" b="1" dirty="0">
                <a:solidFill>
                  <a:srgbClr val="F9EEE7"/>
                </a:solidFill>
                <a:latin typeface="Quattrocento" pitchFamily="34" charset="0"/>
                <a:ea typeface="Quattrocento" pitchFamily="34" charset="-122"/>
                <a:cs typeface="Quattrocento" pitchFamily="34" charset="-120"/>
              </a:rPr>
              <a:t>Model Customization:</a:t>
            </a:r>
            <a:endParaRPr lang="en-US" sz="2200" dirty="0"/>
          </a:p>
        </p:txBody>
      </p:sp>
      <p:sp>
        <p:nvSpPr>
          <p:cNvPr id="14" name="Text 12"/>
          <p:cNvSpPr/>
          <p:nvPr/>
        </p:nvSpPr>
        <p:spPr>
          <a:xfrm>
            <a:off x="10411658" y="4322445"/>
            <a:ext cx="3380899" cy="1149072"/>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Fine-tune the models to suit your specific needs with custom training data.</a:t>
            </a:r>
            <a:endParaRPr lang="en-US" sz="1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837724" y="1606748"/>
            <a:ext cx="5632490" cy="704017"/>
          </a:xfrm>
          <a:prstGeom prst="rect">
            <a:avLst/>
          </a:prstGeom>
          <a:noFill/>
          <a:ln/>
        </p:spPr>
        <p:txBody>
          <a:bodyPr wrap="none" lIns="0" tIns="0" rIns="0" bIns="0" rtlCol="0" anchor="t"/>
          <a:lstStyle/>
          <a:p>
            <a:pPr algn="l" indent="0" marL="0">
              <a:lnSpc>
                <a:spcPts val="5500"/>
              </a:lnSpc>
              <a:buNone/>
            </a:pPr>
            <a:r>
              <a:rPr lang="en-US" sz="4400" dirty="0">
                <a:solidFill>
                  <a:srgbClr val="FFD9BE"/>
                </a:solidFill>
                <a:latin typeface="Quattrocento" pitchFamily="34" charset="0"/>
                <a:ea typeface="Quattrocento" pitchFamily="34" charset="-122"/>
                <a:cs typeface="Quattrocento" pitchFamily="34" charset="-120"/>
              </a:rPr>
              <a:t>Thank You</a:t>
            </a:r>
            <a:endParaRPr lang="en-US" sz="4400" dirty="0"/>
          </a:p>
        </p:txBody>
      </p:sp>
      <p:sp>
        <p:nvSpPr>
          <p:cNvPr id="4" name="Text 1"/>
          <p:cNvSpPr/>
          <p:nvPr/>
        </p:nvSpPr>
        <p:spPr>
          <a:xfrm>
            <a:off x="837724" y="2669738"/>
            <a:ext cx="7468553" cy="766048"/>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We appreciate your time and consideration. Contact us to learn more.</a:t>
            </a:r>
            <a:endParaRPr lang="en-US" sz="1850" dirty="0"/>
          </a:p>
        </p:txBody>
      </p:sp>
      <p:sp>
        <p:nvSpPr>
          <p:cNvPr id="5" name="Shape 2"/>
          <p:cNvSpPr/>
          <p:nvPr/>
        </p:nvSpPr>
        <p:spPr>
          <a:xfrm>
            <a:off x="837724" y="3974187"/>
            <a:ext cx="538520" cy="538520"/>
          </a:xfrm>
          <a:prstGeom prst="roundRect">
            <a:avLst>
              <a:gd name="adj" fmla="val 6668"/>
            </a:avLst>
          </a:prstGeom>
          <a:solidFill>
            <a:srgbClr val="315251"/>
          </a:solidFill>
          <a:ln/>
        </p:spPr>
      </p:sp>
      <p:sp>
        <p:nvSpPr>
          <p:cNvPr id="6" name="Text 3"/>
          <p:cNvSpPr/>
          <p:nvPr/>
        </p:nvSpPr>
        <p:spPr>
          <a:xfrm>
            <a:off x="937974" y="4032171"/>
            <a:ext cx="337899" cy="422434"/>
          </a:xfrm>
          <a:prstGeom prst="rect">
            <a:avLst/>
          </a:prstGeom>
          <a:noFill/>
          <a:ln/>
        </p:spPr>
        <p:txBody>
          <a:bodyPr wrap="none" lIns="0" tIns="0" rIns="0" bIns="0" rtlCol="0" anchor="t"/>
          <a:lstStyle/>
          <a:p>
            <a:pPr algn="ctr" indent="0" marL="0">
              <a:lnSpc>
                <a:spcPts val="2650"/>
              </a:lnSpc>
              <a:buNone/>
            </a:pPr>
            <a:r>
              <a:rPr lang="en-US" sz="2650" dirty="0">
                <a:solidFill>
                  <a:srgbClr val="F9EEE7"/>
                </a:solidFill>
                <a:latin typeface="Quattrocento" pitchFamily="34" charset="0"/>
                <a:ea typeface="Quattrocento" pitchFamily="34" charset="-122"/>
                <a:cs typeface="Quattrocento" pitchFamily="34" charset="-120"/>
              </a:rPr>
              <a:t>1</a:t>
            </a:r>
            <a:endParaRPr lang="en-US" sz="2650" dirty="0"/>
          </a:p>
        </p:txBody>
      </p:sp>
      <p:sp>
        <p:nvSpPr>
          <p:cNvPr id="7" name="Text 4"/>
          <p:cNvSpPr/>
          <p:nvPr/>
        </p:nvSpPr>
        <p:spPr>
          <a:xfrm>
            <a:off x="1615559" y="3974187"/>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Get in Touch</a:t>
            </a:r>
            <a:endParaRPr lang="en-US" sz="2200" dirty="0"/>
          </a:p>
        </p:txBody>
      </p:sp>
      <p:sp>
        <p:nvSpPr>
          <p:cNvPr id="8" name="Text 5"/>
          <p:cNvSpPr/>
          <p:nvPr/>
        </p:nvSpPr>
        <p:spPr>
          <a:xfrm>
            <a:off x="1615559" y="4469725"/>
            <a:ext cx="2836783" cy="383024"/>
          </a:xfrm>
          <a:prstGeom prst="rect">
            <a:avLst/>
          </a:prstGeom>
          <a:noFill/>
          <a:ln/>
        </p:spPr>
        <p:txBody>
          <a:bodyPr wrap="non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Contact us for demos.</a:t>
            </a:r>
            <a:endParaRPr lang="en-US" sz="1850" dirty="0"/>
          </a:p>
        </p:txBody>
      </p:sp>
      <p:sp>
        <p:nvSpPr>
          <p:cNvPr id="9" name="Shape 6"/>
          <p:cNvSpPr/>
          <p:nvPr/>
        </p:nvSpPr>
        <p:spPr>
          <a:xfrm>
            <a:off x="4691658" y="3974187"/>
            <a:ext cx="538520" cy="538520"/>
          </a:xfrm>
          <a:prstGeom prst="roundRect">
            <a:avLst>
              <a:gd name="adj" fmla="val 6668"/>
            </a:avLst>
          </a:prstGeom>
          <a:solidFill>
            <a:srgbClr val="315251"/>
          </a:solidFill>
          <a:ln/>
        </p:spPr>
      </p:sp>
      <p:sp>
        <p:nvSpPr>
          <p:cNvPr id="10" name="Text 7"/>
          <p:cNvSpPr/>
          <p:nvPr/>
        </p:nvSpPr>
        <p:spPr>
          <a:xfrm>
            <a:off x="4791908" y="4032171"/>
            <a:ext cx="337899" cy="422434"/>
          </a:xfrm>
          <a:prstGeom prst="rect">
            <a:avLst/>
          </a:prstGeom>
          <a:noFill/>
          <a:ln/>
        </p:spPr>
        <p:txBody>
          <a:bodyPr wrap="none" lIns="0" tIns="0" rIns="0" bIns="0" rtlCol="0" anchor="t"/>
          <a:lstStyle/>
          <a:p>
            <a:pPr algn="ctr" indent="0" marL="0">
              <a:lnSpc>
                <a:spcPts val="2650"/>
              </a:lnSpc>
              <a:buNone/>
            </a:pPr>
            <a:r>
              <a:rPr lang="en-US" sz="2650" dirty="0">
                <a:solidFill>
                  <a:srgbClr val="F9EEE7"/>
                </a:solidFill>
                <a:latin typeface="Quattrocento" pitchFamily="34" charset="0"/>
                <a:ea typeface="Quattrocento" pitchFamily="34" charset="-122"/>
                <a:cs typeface="Quattrocento" pitchFamily="34" charset="-120"/>
              </a:rPr>
              <a:t>2</a:t>
            </a:r>
            <a:endParaRPr lang="en-US" sz="2650" dirty="0"/>
          </a:p>
        </p:txBody>
      </p:sp>
      <p:sp>
        <p:nvSpPr>
          <p:cNvPr id="11" name="Text 8"/>
          <p:cNvSpPr/>
          <p:nvPr/>
        </p:nvSpPr>
        <p:spPr>
          <a:xfrm>
            <a:off x="5469493" y="3974187"/>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More Resources</a:t>
            </a:r>
            <a:endParaRPr lang="en-US" sz="2200" dirty="0"/>
          </a:p>
        </p:txBody>
      </p:sp>
      <p:sp>
        <p:nvSpPr>
          <p:cNvPr id="12" name="Text 9"/>
          <p:cNvSpPr/>
          <p:nvPr/>
        </p:nvSpPr>
        <p:spPr>
          <a:xfrm>
            <a:off x="5469493" y="4469725"/>
            <a:ext cx="2836783" cy="766048"/>
          </a:xfrm>
          <a:prstGeom prst="rect">
            <a:avLst/>
          </a:prstGeom>
          <a:noFill/>
          <a:ln/>
        </p:spPr>
        <p:txBody>
          <a:bodyPr wrap="squar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View our documentation online.</a:t>
            </a:r>
            <a:endParaRPr lang="en-US" sz="1850" dirty="0"/>
          </a:p>
        </p:txBody>
      </p:sp>
      <p:sp>
        <p:nvSpPr>
          <p:cNvPr id="13" name="Shape 10"/>
          <p:cNvSpPr/>
          <p:nvPr/>
        </p:nvSpPr>
        <p:spPr>
          <a:xfrm>
            <a:off x="837724" y="5744289"/>
            <a:ext cx="538520" cy="538520"/>
          </a:xfrm>
          <a:prstGeom prst="roundRect">
            <a:avLst>
              <a:gd name="adj" fmla="val 6668"/>
            </a:avLst>
          </a:prstGeom>
          <a:solidFill>
            <a:srgbClr val="315251"/>
          </a:solidFill>
          <a:ln/>
        </p:spPr>
      </p:sp>
      <p:sp>
        <p:nvSpPr>
          <p:cNvPr id="14" name="Text 11"/>
          <p:cNvSpPr/>
          <p:nvPr/>
        </p:nvSpPr>
        <p:spPr>
          <a:xfrm>
            <a:off x="937974" y="5802273"/>
            <a:ext cx="337899" cy="422434"/>
          </a:xfrm>
          <a:prstGeom prst="rect">
            <a:avLst/>
          </a:prstGeom>
          <a:noFill/>
          <a:ln/>
        </p:spPr>
        <p:txBody>
          <a:bodyPr wrap="none" lIns="0" tIns="0" rIns="0" bIns="0" rtlCol="0" anchor="t"/>
          <a:lstStyle/>
          <a:p>
            <a:pPr algn="ctr" indent="0" marL="0">
              <a:lnSpc>
                <a:spcPts val="2650"/>
              </a:lnSpc>
              <a:buNone/>
            </a:pPr>
            <a:r>
              <a:rPr lang="en-US" sz="2650" dirty="0">
                <a:solidFill>
                  <a:srgbClr val="F9EEE7"/>
                </a:solidFill>
                <a:latin typeface="Quattrocento" pitchFamily="34" charset="0"/>
                <a:ea typeface="Quattrocento" pitchFamily="34" charset="-122"/>
                <a:cs typeface="Quattrocento" pitchFamily="34" charset="-120"/>
              </a:rPr>
              <a:t>3</a:t>
            </a:r>
            <a:endParaRPr lang="en-US" sz="2650" dirty="0"/>
          </a:p>
        </p:txBody>
      </p:sp>
      <p:sp>
        <p:nvSpPr>
          <p:cNvPr id="15" name="Text 12"/>
          <p:cNvSpPr/>
          <p:nvPr/>
        </p:nvSpPr>
        <p:spPr>
          <a:xfrm>
            <a:off x="1615559" y="5744289"/>
            <a:ext cx="2816185" cy="351949"/>
          </a:xfrm>
          <a:prstGeom prst="rect">
            <a:avLst/>
          </a:prstGeom>
          <a:noFill/>
          <a:ln/>
        </p:spPr>
        <p:txBody>
          <a:bodyPr wrap="none" lIns="0" tIns="0" rIns="0" bIns="0" rtlCol="0" anchor="t"/>
          <a:lstStyle/>
          <a:p>
            <a:pPr algn="l" indent="0" marL="0">
              <a:lnSpc>
                <a:spcPts val="2750"/>
              </a:lnSpc>
              <a:buNone/>
            </a:pPr>
            <a:r>
              <a:rPr lang="en-US" sz="2200" dirty="0">
                <a:solidFill>
                  <a:srgbClr val="F9EEE7"/>
                </a:solidFill>
                <a:latin typeface="Quattrocento" pitchFamily="34" charset="0"/>
                <a:ea typeface="Quattrocento" pitchFamily="34" charset="-122"/>
                <a:cs typeface="Quattrocento" pitchFamily="34" charset="-120"/>
              </a:rPr>
              <a:t>Stay Updated</a:t>
            </a:r>
            <a:endParaRPr lang="en-US" sz="2200" dirty="0"/>
          </a:p>
        </p:txBody>
      </p:sp>
      <p:sp>
        <p:nvSpPr>
          <p:cNvPr id="16" name="Text 13"/>
          <p:cNvSpPr/>
          <p:nvPr/>
        </p:nvSpPr>
        <p:spPr>
          <a:xfrm>
            <a:off x="1615559" y="6239827"/>
            <a:ext cx="6690717" cy="383024"/>
          </a:xfrm>
          <a:prstGeom prst="rect">
            <a:avLst/>
          </a:prstGeom>
          <a:noFill/>
          <a:ln/>
        </p:spPr>
        <p:txBody>
          <a:bodyPr wrap="none" lIns="0" tIns="0" rIns="0" bIns="0" rtlCol="0" anchor="t"/>
          <a:lstStyle/>
          <a:p>
            <a:pPr algn="l" indent="0" marL="0">
              <a:lnSpc>
                <a:spcPts val="3000"/>
              </a:lnSpc>
              <a:buNone/>
            </a:pPr>
            <a:r>
              <a:rPr lang="en-US" sz="1850" dirty="0">
                <a:solidFill>
                  <a:srgbClr val="F9EEE7"/>
                </a:solidFill>
                <a:latin typeface="Quattrocento" pitchFamily="34" charset="0"/>
                <a:ea typeface="Quattrocento" pitchFamily="34" charset="-122"/>
                <a:cs typeface="Quattrocento" pitchFamily="34" charset="-120"/>
              </a:rPr>
              <a:t>Follow our blog for AI insights.</a:t>
            </a:r>
            <a:endParaRPr lang="en-US" sz="1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2025-04-17T10:15:08Z</dcterms:created>
  <dcterms:modified xsi:type="dcterms:W3CDTF">2025-04-17T10:15:08Z</dcterms:modified>
</cp:coreProperties>
</file>